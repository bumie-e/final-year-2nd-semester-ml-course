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workshop for graduate students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553712"/>
            <a:ext cx="2743200" cy="36576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09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 ·  Algorithms  ·  Implementation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 · Lecture  |  80 min · Practical Lab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0" y="548640"/>
            <a:ext cx="914400" cy="914400"/>
          </a:xfrm>
          <a:prstGeom prst="OVAL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548640"/>
            <a:ext cx="914400" cy="914400"/>
          </a:xfrm>
          <a:prstGeom prst="OVAL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1920240"/>
            <a:ext cx="914400" cy="914400"/>
          </a:xfrm>
          <a:prstGeom prst="OVAL">
            <a:avLst/>
          </a:prstGeom>
          <a:solidFill>
            <a:srgbClr val="93C5FD">
              <a:alpha val="6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66960" y="1920240"/>
            <a:ext cx="914400" cy="914400"/>
          </a:xfrm>
          <a:prstGeom prst="OVAL">
            <a:avLst/>
          </a:prstGeom>
          <a:solidFill>
            <a:srgbClr val="BFDBFE">
              <a:alpha val="5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3291840"/>
            <a:ext cx="914400" cy="914400"/>
          </a:xfrm>
          <a:prstGeom prst="OVAL">
            <a:avLst/>
          </a:prstGeom>
          <a:solidFill>
            <a:srgbClr val="DBEAFE">
              <a:alpha val="40000"/>
            </a:srgbClr>
          </a:solidFill>
          <a:ln w="12700">
            <a:solidFill>
              <a:srgbClr val="DBEAF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5486400" cy="5120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2618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2618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Theory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1920240"/>
            <a:ext cx="52120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920240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19933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0116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fundamentals &amp; the MDP framework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2971800"/>
            <a:ext cx="52120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971800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0449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063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functions &amp; Bellman equations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4023360"/>
            <a:ext cx="52120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023360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096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4114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SARSA, Policy Gradient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5074920"/>
            <a:ext cx="52120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5074920"/>
            <a:ext cx="54864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51480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5166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RL: DQN, A3C, PPO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1234440"/>
            <a:ext cx="5486400" cy="5120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1234440"/>
            <a:ext cx="5486400" cy="502920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12618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12618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Lab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52120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1920240"/>
            <a:ext cx="54864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47688" y="19933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95160" y="20116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Gym environment setup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37960" y="2971800"/>
            <a:ext cx="52120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7960" y="2971800"/>
            <a:ext cx="54864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47688" y="30449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5160" y="3063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Q-Learning from scratch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537960" y="4023360"/>
            <a:ext cx="52120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4023360"/>
            <a:ext cx="54864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47688" y="40965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95160" y="4114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DQN agent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537960" y="5074920"/>
            <a:ext cx="52120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7960" y="5074920"/>
            <a:ext cx="54864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7688" y="51480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95160" y="5166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with Stable-Baselines3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Reinforcement Learning?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trial, error, and reward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12471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112471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agent learns to make decisions by interacting with an environment, seeking to maximize cumulative reward."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260604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structure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2606040"/>
            <a:ext cx="3657600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2606040"/>
            <a:ext cx="3657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0392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4160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interaction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reward signals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RL Applied?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games to robotics to finance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15270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AlphaGo, AlphaStar, OpenAI Five beat world champions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94960" y="15270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control, locomotion, manipulation tasks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13258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26880" y="15270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/ RLHF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ChatGPT, Claude via human feedback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463040" y="4087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planning, drug discovery, clinical trials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388620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94960" y="4087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management, algorithmic trading, risk control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21040" y="388620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03920" y="4069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326880" y="4087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0392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lane-keeping, traffic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Agent-Environment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interaction 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320040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645920"/>
            <a:ext cx="32004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74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π(a|s)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/ Decision Maker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20040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45920"/>
            <a:ext cx="32004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874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P(s'|s,a)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/ Simulator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2011680"/>
            <a:ext cx="37490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7955280" y="1828800"/>
            <a:ext cx="10972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566160"/>
            <a:ext cx="37490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sₜ₊₁  +  Reward  rₜ₊₁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4709160"/>
            <a:ext cx="57607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48006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policy π* that maximises  E[∑ γᵗ rₜ]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Decision Processes (MDP)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framework of RL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484632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Formal Definition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5486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 situations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be 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5486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the 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5486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03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23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P(s'|s,a) — probability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s' from s via 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486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72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4599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892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R(s,a,s') — immediate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signal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5486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4406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5468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5760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∈ [0,1] — how much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future rewards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1234440"/>
            <a:ext cx="612648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1234440"/>
            <a:ext cx="612648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13716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Markov Property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0" y="1828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P(sₜ₊₁ | s₀,a₀,...,sₜ,aₜ) = P(sₜ₊₁ | sₜ, aₜ)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69280" y="23774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future is independent of the past, given the present state."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577840" y="3429000"/>
            <a:ext cx="61264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69280" y="3566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and Discounting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69280" y="4069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Episodic return:  Gₜ = rₜ + rₜ₊₁ + ... + rₜ₊ₙ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0" y="4572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Discounted return:  Gₜ = Σₖ₌₀∞ γᵏ rₜ₊ₖ₊₁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69280" y="5074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γ = 0 → myopic (only current reward)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69280" y="5577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γ → 1 → far-sighted (values future rewards)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decide what to 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3657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63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194560"/>
            <a:ext cx="33832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94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π(s) = 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state to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action. Simple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 miss optimality.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128016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280160"/>
            <a:ext cx="3657600" cy="6400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463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Policy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26280" y="2194560"/>
            <a:ext cx="33832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194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π(a|s) = P(a|s)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2628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state to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actions.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1280160"/>
            <a:ext cx="365760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1280160"/>
            <a:ext cx="36576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1463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Policy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58200" y="2194560"/>
            <a:ext cx="33832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194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π* = argmaxπ Vπ(s)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5820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that maximises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cumulative reward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states.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1124712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937760"/>
            <a:ext cx="73152" cy="1554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vs Exploitation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86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tension: exploit known rewards (greedy) or explore unknown actions (risky but potentially better)?  ε-greedy: with prob ε pick random action, otherwise pick argmax Q(s,a).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the long-term worth of states and 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30352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5303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State-Value Function  Vπ(s)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1965960"/>
            <a:ext cx="502920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65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Vπ(s) = Eπ[Gₜ | Sₜ = s]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 starting from state 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following policy 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557784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80160"/>
            <a:ext cx="55778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Action-Value Function  Qπ(s,a)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30352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9659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Qπ(s,a) = Eπ[Gₜ | Sₜ=s, Aₜ=a]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63640" y="2834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 starting from state 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action a, then following 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530352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4160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4663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Vπ(s) = Σₐ π(a|s) · Qπ(s,a)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policy: π*(s) = argmaxₐ Q*(s,a)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4023360"/>
            <a:ext cx="55778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4160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46634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Value functions guide policy improvement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50749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Most RL algorithms estimate V or Q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54864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Deep RL approximates them with neural nets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58978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They encode 'how good is it to be here?'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Bellman Equations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decomposition of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4712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Expectation Equation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737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Vπ(s) = Σₐ π(a|s) Σs' P(s'|s,a) [R(s,a,s') + γ Vπ(s')]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24712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Optimality Equation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971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V*(s) = maxₐ Σs' P(s'|s,a) [R(s,a,s') + γ V*(s')]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365760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3657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reward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 from the environment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3749040"/>
            <a:ext cx="365760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3749040"/>
            <a:ext cx="36576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value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480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value of the next state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3749040"/>
            <a:ext cx="365760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21040" y="3749040"/>
            <a:ext cx="3657600" cy="6400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nature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480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depends on value — solved by iteration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Algorithm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the major approaches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325880"/>
            <a:ext cx="22860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1325880"/>
            <a:ext cx="228600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4320" y="2148840"/>
            <a:ext cx="27432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48840"/>
            <a:ext cx="274320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529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29768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15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502920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047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08960" y="2148840"/>
            <a:ext cx="27432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08960" y="214884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Policy-Based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46120" y="283464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8529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356616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46120" y="429768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315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502920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5047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2148840"/>
            <a:ext cx="27432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14884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72200" y="283464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8529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A3C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72200" y="356616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72200" y="429768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4315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TD3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72200" y="502920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5047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961120" y="2148840"/>
            <a:ext cx="274320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961120" y="214884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256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098280" y="283464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89720" y="285292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Dyna-Q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098280" y="356616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89720" y="358444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MuZero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98280" y="429768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89720" y="43159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098280" y="5029200"/>
            <a:ext cx="24688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89720" y="5047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AlphaZero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with a known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30352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policy π, compute Vπ(s) for all 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502920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688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s in S: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V(s) ← Σₐ π(a|s) Σs' P(s'|s,a)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[R + γ V(s')]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Improvement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Greedily update policy based on value function: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84632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92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π'(s) ← argmaxₐ Q(s,a)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557784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417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DP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1965960"/>
            <a:ext cx="5303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2011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full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3591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 P(s'|s,a) and R — often unavailable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3063240"/>
            <a:ext cx="5303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108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Curse of dimensionality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4564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poorly: |S|²|A| operations per sweep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4160520"/>
            <a:ext cx="5303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4206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Synchronous sweeps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45537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state each iteration — expensive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5257800"/>
            <a:ext cx="53035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5303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sample-efficient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56509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leverage experience from real rollouts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Difference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experience, step by 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112471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53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TD Update Rule: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353312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V(Sₜ) ← V(Sₜ) + α [ Rₜ₊₁ + γ V(Sₜ₊₁)  −  V(Sₜ) ]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6576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3657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633472"/>
            <a:ext cx="33832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334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Rₜ₊₁ + γ V(Sₜ₊₁)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Target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estimate of true value using the next step's actual reward and estimated next state value.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2468880"/>
            <a:ext cx="36576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468880"/>
            <a:ext cx="36576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2633472"/>
            <a:ext cx="33832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6334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Error  δₜ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− V(Sₜ)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02336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signal: how different is reality from our prediction? This drives all learning.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2468880"/>
            <a:ext cx="36576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2468880"/>
            <a:ext cx="3657600" cy="6400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2633472"/>
            <a:ext cx="338328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26334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(alpha)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4023360"/>
            <a:ext cx="3383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step size. Too large → unstable. Too small → slow convergence.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TD control — a cornerstone algorithm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658368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61872"/>
            <a:ext cx="6583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7160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Q-Learning (Watkins, 1989)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874520"/>
            <a:ext cx="630936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65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 Q(s,a) arbitrarily; Q(terminal,·) = 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244144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episode: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291693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Observe initial state 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39242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step in episode: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38679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Choose a from s using ε-greedy on Q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Take action a, observe r, s'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8188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Q(s,a) ← Q(s,a) + α [r + γ maxₐ' Q(s',a') − Q(s,a)]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29437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← s'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76986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Until s is terminal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23760" y="1261872"/>
            <a:ext cx="448056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60920" y="1371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60920" y="19019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Off-policy: learns optimal Q regardless of behaviour policy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60920" y="25420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Converges to Q* (under mild conditions)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60920" y="31821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 to implement and understand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60920" y="38221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Tabular form only — does not scale to large state spaces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3794760"/>
            <a:ext cx="4480560" cy="26517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3794760"/>
            <a:ext cx="44805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3904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Explained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60920" y="4407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γ max Q(s',a')  is the "target"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60920" y="48646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 is the current estimate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53218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difference = TD error 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 nudge Q toward the target by α·δ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— On-Policy TD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policy it actually follows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371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← Q(s,a) + α [ r + γ Q(s', a')  −  Q(s,a) ]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548640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5486400" cy="6400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15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 (On-Policy)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actual next action a' taken by the agent's current policy.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Q^π — value of following current policy.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in practice — avoids cliff edges when exploring.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548640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560320"/>
            <a:ext cx="54864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715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 (Off-Policy)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best possible next action max Q(s',a').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Q* — value of optimal policy regardless of behaviour.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find shorter paths but may "fall off cliffs" during exploration.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Q-Networks (DQN)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Mnih et al., DeepMind, 2013 — learning Atari from pixels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7315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13898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Function Approximator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874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Q-table with a deep CNN: Q(s,a; 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raw pixel frames. Output: Q-values for all actions.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7315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172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transitions (s,a,r,s') in a replay buffer 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random mini-batches to break correlation between consecutive samples.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731520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89204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983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9560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440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separate network θ⁻ for computing targets.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θ⁻ ← θ every C steps. Stabilises training.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1325880"/>
            <a:ext cx="365760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83880" y="14447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Loss Function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83880" y="1920240"/>
            <a:ext cx="3383280" cy="12801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19202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L(θ) = E[(yⱼ − Q(sⱼ,aⱼ;θ))²]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yⱼ = rⱼ + γ maxₐ' Q(s'ⱼ,a';θ⁻)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3657600"/>
            <a:ext cx="3657600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83880" y="37673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Results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388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Surpassed human performance on 29/49 Atari games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8388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 architecture across all games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83880" y="5394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Learned directly from raw pixels + game score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3880" y="5943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First major Deep RL breakthrough (Nature 2015)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optimise the policy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1124712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 Theorem  (REINFORCE)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∇J(θ) = Eπ[ ∇ log π(a|s;θ) · Gₜ ]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6576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14600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243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Policy Gradients?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Works with continuous action spaces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Naturally stochastic — better exploration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45171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 directly encode domain knowledge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51755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Convergence guarantees (local optima)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89120" y="2514600"/>
            <a:ext cx="36576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2514600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6243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200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Increase probability of actions with high return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2628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Decrease probability of actions with low return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45171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'Reinforce' good behaviour, penalise bad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26280" y="51755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Monte Carlo estimate of gradient — high variance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21040" y="2514600"/>
            <a:ext cx="365760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21040" y="2514600"/>
            <a:ext cx="365760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26243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Problem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3200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MC returns have high variance → slow learning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5820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Solution: subtract a baseline b(s)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58200" y="45171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∇J(θ) = E[ ∇ log π · (Gₜ − b(s)) ]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58200" y="517550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 baseline: value function V(s) → Actor-Critic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of both worlds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298448"/>
            <a:ext cx="4389120" cy="24688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298448"/>
            <a:ext cx="4389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463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 π(a|s; θ)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Network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action probabilities.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by policy gradient.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298448"/>
            <a:ext cx="4389120" cy="24688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98448"/>
            <a:ext cx="43891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463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 V(s; w)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Network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606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state value.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baseline / advantage.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5303520" cy="2514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Function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572000"/>
            <a:ext cx="502920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572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A(s,a) = Q(s,a) − V(s)  =  r + γV(s') − V(s)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53949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 0 → action better than average → increase probability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 0 → action worse than average → decrease probability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3977640"/>
            <a:ext cx="5577840" cy="2514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40965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Actor-Critic Algorithms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46360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A2C/A3C: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0" y="463600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/ asynchronous advantage AC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51663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0" y="51663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objective for safe policy updates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56967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0" y="569671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entropy — encourages exploration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62270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TD3/DDPG: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8080" y="62270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+ twin critics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Optimisation (PPO)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Schulman et al., OpenAI, 2017 — the industry standard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112471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61872"/>
            <a:ext cx="7315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Clipped Objective: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35331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L^CLIP(θ) = Eₜ[ min( rₜ(θ)·Aₜ,  clip(rₜ(θ), 1−ε, 1+ε)·Aₜ ) ]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65760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44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rₜ(θ) — Probability Ratio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9300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π(aₜ|sₜ;θ) / π(aₜ|sₜ;θ_old)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the policy change for this action?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2834640"/>
            <a:ext cx="365760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2834640"/>
            <a:ext cx="365760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944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Mechanism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49300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ratio from going outside [1−ε, 1+ε]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ε = 0.2. Stops destructively large updates.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2834640"/>
            <a:ext cx="3657600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2834640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944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Aₜ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349300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Generalised Advantage Estimation (GAE)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∈ [0,1] trades off bias vs variance.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4712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50474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PPO is the go-to algorithm: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5029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 to tune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5029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with discrete &amp; continuous actions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0" y="5029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State-of-the-art on locomotion, robotics, RLHF (ChatGPT fine-tuning)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vs exploitation in isolation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5303520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slot machines, each with unknown payout distribution qₐ.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maximise total reward over T steps.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 = T · q* − Σₜ₌₁ᵀ Rₜ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 estimate: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Q(a) ← Q(a) + (1/Nₐ) [Rₜ − Q(a)]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261872"/>
            <a:ext cx="557784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61872"/>
            <a:ext cx="55778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with prob 1−ε, explore randomly with prob ε. Simple and effective.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136392"/>
            <a:ext cx="557784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3136392"/>
            <a:ext cx="55778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46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37490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Q(a) + c√(ln t / Nₐ). Prefer uncertain actions — optimism in the face of uncertainty.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5010912"/>
            <a:ext cx="557784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5010912"/>
            <a:ext cx="557784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Sampling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56235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Beta prior over qₐ; sample and pick best. Bayesian and near-optimal.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Gym / Gymnasium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RL experimentation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658368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6583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8988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Gymnasium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920240"/>
            <a:ext cx="6309360" cy="4343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116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gymnasium as gym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33172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6517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= gym.make('CartPole-v1')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97180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obs, info = env.reset()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29184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range(1000):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env.action_space.sample()  # random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251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obs, reward, terminated, truncated, info = env.step(action)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57200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89204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terminated or truncated: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obs, info = env.reset()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553212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8521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env.close()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23760" y="1280160"/>
            <a:ext cx="44805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138988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Environments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69480" y="1920240"/>
            <a:ext cx="43891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0664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CartPole-v1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06640" y="2313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Control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19659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 pole — great for testing basic algorithms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69480" y="2834640"/>
            <a:ext cx="43891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06640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LunarLander-v2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0664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Box2D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 craft — continuous + discrete actions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9480" y="3749040"/>
            <a:ext cx="43891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0664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MountainCar-v0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406640" y="4142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Control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0" y="3794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rewards — exploration challenge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269480" y="4663440"/>
            <a:ext cx="43891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406640" y="4709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Atari Games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406640" y="5056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Observations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0" y="4709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games, raw pixel input, discrete actions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269480" y="5577840"/>
            <a:ext cx="438912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406640" y="5623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envs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406640" y="5971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144000" y="5623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HalfCheetah, Ant, Hopper — locomotion tasks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Reinforcement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RL is hard in practice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490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Inefficiency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" y="22219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agents need millions of interactions to learn what a human does in minutes. DQN requires 200M frames on Atari (~38 days of play).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132588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325880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1490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22219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reward functions is an art. Sparse rewards slow learning; dense rewards can be 'gamed' in unexpected ways.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32588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325880"/>
            <a:ext cx="365760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0" y="1490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58200" y="222199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policy improves, the data distribution changes — making learning targets move. Requires careful stabilisation.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31920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40965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Observability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94360" y="482803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often see only part of the true state (POMDP). Requires memory / recurrent architectures (LSTM, Transformers).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9120" y="3931920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12080" y="40965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26280" y="482803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policies often overfit to their training environment. Transfer to slightly different settings can completely fail.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2104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21040" y="3931920"/>
            <a:ext cx="365760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144000" y="40965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Stability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458200" y="482803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exploration, agents may take dangerous actions. Constrained RL and safe RL are active research areas.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&amp; Credit Assignment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 RL 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30352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898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supplementary reward signals to guide learning: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r' (s,a,s') = r(s,a,s') + F(s,a,s')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Potential-based shaping:  F = γΦ(s') − Φ(s)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not to change the optimal policy!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Reward hacking — agent exploits the shaped reward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Changes optimal behaviour if done incorrectly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domain knowledge to design well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5394960" cy="5212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280160"/>
            <a:ext cx="53949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3898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Assignment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5080" y="1920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past action caused the current reward?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 with long delay between action and outcome.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2834640"/>
            <a:ext cx="51206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2834640"/>
            <a:ext cx="6400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880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Traces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92240" y="327355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recently visited state-action pairs; propagate reward backwards through time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3977640"/>
            <a:ext cx="51206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3977640"/>
            <a:ext cx="6400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023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λ-returns (TD(λ))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92240" y="441655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TD (low variance) and MC (unbiased) estimates using λ ∈ [0,1]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5120640"/>
            <a:ext cx="512064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5120640"/>
            <a:ext cx="6400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166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92240" y="555955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Advantage Estimation — standard in PPO and actor-critic methods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Approximation in RL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large state spaces with neural networks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4712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533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1353312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spaces are enormous (10^170 in Go). Q-tables are infeasible. Approximate with a parameterised function: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6576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14600"/>
            <a:ext cx="3657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24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Approximation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33832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Q(s,a;θ) = θᵀ φ(s,a)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25196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φ(s,a) handcrafted.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limited capacity.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2514600"/>
            <a:ext cx="36576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514600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624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26280" y="3246120"/>
            <a:ext cx="33832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Q(s,a;θ) = DNN(s;θ)[a]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425196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images.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for vector states.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learning.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2514600"/>
            <a:ext cx="36576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21040" y="2514600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2624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Network (A2C/PPO)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458200" y="3246120"/>
            <a:ext cx="338328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3246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π(a|s;θ), V(s;θ)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25196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value head share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layers. Efficient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methods.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Deep RL — State of the Field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and where the field stands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11247120" cy="667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1097280" cy="667512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25880"/>
            <a:ext cx="1097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1399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4173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— first Deep RL breakthrough on Atari games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11247120" cy="667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084832"/>
            <a:ext cx="1097280" cy="667512"/>
          </a:xfrm>
          <a:prstGeom prst="rect">
            <a:avLst/>
          </a:prstGeom>
          <a:solidFill>
            <a:srgbClr val="BFDBFE">
              <a:alpha val="85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84832"/>
            <a:ext cx="1097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21579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17627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 world champion Lee Sedol — MCTS + deep value networks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11247120" cy="667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43784"/>
            <a:ext cx="1097280" cy="667512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43784"/>
            <a:ext cx="1097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29169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/ A3C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2935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PPO becomes the standard continuous control algorithm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602736"/>
            <a:ext cx="11247120" cy="667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02736"/>
            <a:ext cx="1097280" cy="667512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02736"/>
            <a:ext cx="1097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36758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AlphaStar / OpenAI Five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369417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agents beat top players in StarCraft II and Dota 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361688"/>
            <a:ext cx="11247120" cy="667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361688"/>
            <a:ext cx="1097280" cy="667512"/>
          </a:xfrm>
          <a:prstGeom prst="rect">
            <a:avLst/>
          </a:prstGeom>
          <a:solidFill>
            <a:srgbClr val="BFDBFE">
              <a:alpha val="85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61688"/>
            <a:ext cx="1097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91640" y="4434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MuZero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31920" y="445312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Atari, Go, Chess without knowledge of game rules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11247120" cy="667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5120640"/>
            <a:ext cx="1097280" cy="667512"/>
          </a:xfrm>
          <a:prstGeom prst="rect">
            <a:avLst/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120640"/>
            <a:ext cx="1097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5193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RLHF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931920" y="52120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human feedback to align LLMs — mainstream breakthrough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5879592"/>
            <a:ext cx="11247120" cy="6675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5879592"/>
            <a:ext cx="1097280" cy="667512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879592"/>
            <a:ext cx="1097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691640" y="59527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/ DAPO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597103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PG variants for LLM fine-tuning without value networks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— Connecting RL to LLMs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ChatGPT, Claude, and Gemini are trained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6576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53312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1993392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base LLM on high-quality demonstration data. Creates a helpful but unaligned model.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1280160"/>
            <a:ext cx="36576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280160"/>
            <a:ext cx="365760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353312"/>
            <a:ext cx="502920" cy="50292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Model Training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26280" y="1993392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human preference data: pairs of LLM outputs ranked by quality. Train reward model RM(x,y).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1280160"/>
            <a:ext cx="36576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1280160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1353312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6112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Fine-Tuning (PPO)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58200" y="1993392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is the actor. RM(x,y) is the reward. Use PPO to update LLM weights to maximise RM score while minimising KL divergence from SFT model.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5029200"/>
            <a:ext cx="11247120" cy="640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Objective: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26080" y="51663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max_θ E[RM(x, πθ(x))]  −  β · KL[πθ(x) ∥ πSFT(x)]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for RL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practitioner's toolkit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63240" y="1435608"/>
            <a:ext cx="9144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435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14884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RL environment API. CartPole to MuJoCo.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132588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325880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95160" y="1435608"/>
            <a:ext cx="9144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435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214884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PyTorch implementations of PPO, SAC, DQN, A2C, TD3.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132588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1325880"/>
            <a:ext cx="365760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RLlib (Ray)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927080" y="1435608"/>
            <a:ext cx="9144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27080" y="1435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458200" y="214884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RL at scale. Multi-agent, multi-GPU, production-ready.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31920"/>
            <a:ext cx="3657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CleanRL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063240" y="4041648"/>
            <a:ext cx="9144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4041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47548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Single-file, highly readable RL implementations. Great for learning.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8912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89120" y="3931920"/>
            <a:ext cx="36576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TorchRL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995160" y="4041648"/>
            <a:ext cx="9144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4041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Native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26280" y="47548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modular RL library built natively into the PyTorch ecosystem.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2104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321040" y="3931920"/>
            <a:ext cx="3657600" cy="5486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4069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WandB / TensorBoard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927080" y="4041648"/>
            <a:ext cx="9144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27080" y="4041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58200" y="47548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tracking. Log rewards, losses, episode lengths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Session Preview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in the next 80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1828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657600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3657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1399032"/>
            <a:ext cx="13716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3990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1399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19019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from Scratch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2651760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651760"/>
            <a:ext cx="54864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70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Q-table update rule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364992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64992"/>
            <a:ext cx="54864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FrozenLake-v1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4078224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078224"/>
            <a:ext cx="54864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965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Q-values as heatmap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" y="4791456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791456"/>
            <a:ext cx="54864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097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ε decay schedules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89120" y="1280160"/>
            <a:ext cx="3657600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9120" y="1280160"/>
            <a:ext cx="36576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26280" y="1399032"/>
            <a:ext cx="13716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13990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1399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26280" y="19019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on CartPole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4526280" y="2651760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26280" y="2651760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670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neural Q-network in PyTorch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26280" y="3364992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3364992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383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replay buffer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526280" y="4078224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6280" y="4078224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0965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target network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526280" y="4791456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4791456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8097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training with reward curves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321040" y="1280160"/>
            <a:ext cx="3657600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321040" y="1280160"/>
            <a:ext cx="3657600" cy="6400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5820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458200" y="1399032"/>
            <a:ext cx="137160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8200" y="13990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149840" y="1399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458200" y="190195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with Stable-Baselines3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8458200" y="2651760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58200" y="2651760"/>
            <a:ext cx="54864" cy="62179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0" y="2670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LunarLander-v2 environment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8458200" y="3364992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58200" y="3364992"/>
            <a:ext cx="54864" cy="62179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95360" y="3383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PPO agent (3 lines!)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458200" y="4078224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58200" y="4078224"/>
            <a:ext cx="54864" cy="62179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0" y="40965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render trained agent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8458200" y="4791456"/>
            <a:ext cx="338328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58200" y="4791456"/>
            <a:ext cx="54864" cy="62179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0" y="48097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and compare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0" cy="146304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is learning through interaction — agents maximise expected cumulative reward in MDPs.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463040"/>
            <a:ext cx="640080" cy="1463040"/>
          </a:xfrm>
          <a:prstGeom prst="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6459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functions (V, Q) and the Bellman equations are the theoretical foundation of almost all RL.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640080" cy="1463040"/>
          </a:xfrm>
          <a:prstGeom prst="rect">
            <a:avLst/>
          </a:prstGeom>
          <a:solidFill>
            <a:srgbClr val="1D4ED8">
              <a:alpha val="9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and SARSA are the canonical tabular RL algorithms — TD error drives all learning.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108960"/>
            <a:ext cx="640080" cy="146304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10896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3291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(DQN, PPO, SAC) combines neural networks with RL for large-scale problems.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754880"/>
            <a:ext cx="640080" cy="1463040"/>
          </a:xfrm>
          <a:prstGeom prst="rect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4937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is the industry standard: simple, stable, and effective for both games and RLHF.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09360" y="4754880"/>
            <a:ext cx="54864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754880"/>
            <a:ext cx="640080" cy="1463040"/>
          </a:xfrm>
          <a:prstGeom prst="rect">
            <a:avLst/>
          </a:prstGeom>
          <a:solidFill>
            <a:srgbClr val="1D4ED8">
              <a:alpha val="9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754880"/>
            <a:ext cx="640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40880" y="4937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will turn theory into code — Q-Learning, DQN, and PPO, all from scratch or near.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26364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→ Let's get to the lab!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601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Reinforcement Learning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601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Reinforcement Learning</dc:title>
  <dc:subject>PptxGenJS Presentation</dc:subject>
  <dc:creator>PptxGenJS</dc:creator>
  <cp:lastModifiedBy>PptxGenJS</cp:lastModifiedBy>
  <cp:revision>1</cp:revision>
  <dcterms:created xsi:type="dcterms:W3CDTF">2026-04-14T06:17:11Z</dcterms:created>
  <dcterms:modified xsi:type="dcterms:W3CDTF">2026-04-14T06:17:11Z</dcterms:modified>
</cp:coreProperties>
</file>