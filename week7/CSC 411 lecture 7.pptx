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6858000" cy="9144000"/>
  <p:embeddedFontLst>
    <p:embeddedFont>
      <p:font typeface="Poppins"/>
      <p:regular r:id="rId35"/>
      <p:bold r:id="rId36"/>
      <p:italic r:id="rId37"/>
      <p:boldItalic r:id="rId38"/>
    </p:embeddedFont>
    <p:embeddedFont>
      <p:font typeface="Quattrocento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bold.fntdata"/><Relationship Id="rId20" Type="http://schemas.openxmlformats.org/officeDocument/2006/relationships/slide" Target="slides/slide15.xml"/><Relationship Id="rId42" Type="http://schemas.openxmlformats.org/officeDocument/2006/relationships/font" Target="fonts/QuattrocentoSans-boldItalic.fntdata"/><Relationship Id="rId41" Type="http://schemas.openxmlformats.org/officeDocument/2006/relationships/font" Target="fonts/Quattrocento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italic.fntdata"/><Relationship Id="rId14" Type="http://schemas.openxmlformats.org/officeDocument/2006/relationships/slide" Target="slides/slide9.xml"/><Relationship Id="rId36" Type="http://schemas.openxmlformats.org/officeDocument/2006/relationships/font" Target="fonts/Poppins-bold.fntdata"/><Relationship Id="rId17" Type="http://schemas.openxmlformats.org/officeDocument/2006/relationships/slide" Target="slides/slide12.xml"/><Relationship Id="rId39" Type="http://schemas.openxmlformats.org/officeDocument/2006/relationships/font" Target="fonts/QuattrocentoSans-regular.fntdata"/><Relationship Id="rId16" Type="http://schemas.openxmlformats.org/officeDocument/2006/relationships/slide" Target="slides/slide11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64f6c28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364f6c28d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64f6c2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364f6c28d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364f6c28d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364f6c28d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64f6c28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364f6c28d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9bcde5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59bcde55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364f6c28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364f6c28d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59bcde55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59bcde55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64f6c28d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364f6c28d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59bcde5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59bcde555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364f6c28d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364f6c28d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59bcde55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59bcde55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59bcde55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d59bcde555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029ae1d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029ae1de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59bcde55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59bcde555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9bcde55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59bcde555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1b48d257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1b48d257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1b48d257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d1b48d2571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1b48d257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1b48d2571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029ae1de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d029ae1deb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5a174fb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d5a174fb3c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5a174fb3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5a174fb3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1b48d257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1b48d2571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029ae1d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029ae1de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029ae1de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d029ae1deb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029ae1d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d029ae1de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029ae1d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029ae1deb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>
            <p:ph idx="2" type="media"/>
          </p:nvPr>
        </p:nvSpPr>
        <p:spPr>
          <a:xfrm>
            <a:off x="0" y="-23110"/>
            <a:ext cx="6324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3" type="pic"/>
          </p:nvPr>
        </p:nvSpPr>
        <p:spPr>
          <a:xfrm>
            <a:off x="11582400" y="3390900"/>
            <a:ext cx="6705600" cy="689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4" type="pic"/>
          </p:nvPr>
        </p:nvSpPr>
        <p:spPr>
          <a:xfrm>
            <a:off x="7239000" y="952500"/>
            <a:ext cx="54864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5" type="pic"/>
          </p:nvPr>
        </p:nvSpPr>
        <p:spPr>
          <a:xfrm>
            <a:off x="1676400" y="7353300"/>
            <a:ext cx="3962400" cy="2024062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6" type="pic"/>
          </p:nvPr>
        </p:nvSpPr>
        <p:spPr>
          <a:xfrm>
            <a:off x="7239000" y="3924300"/>
            <a:ext cx="3276600" cy="213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"/>
          <p:cNvSpPr/>
          <p:nvPr>
            <p:ph idx="2" type="pic"/>
          </p:nvPr>
        </p:nvSpPr>
        <p:spPr>
          <a:xfrm>
            <a:off x="11430000" y="2552700"/>
            <a:ext cx="5181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3" type="pic"/>
          </p:nvPr>
        </p:nvSpPr>
        <p:spPr>
          <a:xfrm>
            <a:off x="1752600" y="2324100"/>
            <a:ext cx="4267200" cy="312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262631"/>
            <a:ext cx="18288000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6096000" y="2024700"/>
            <a:ext cx="5970665" cy="7233600"/>
          </a:xfrm>
          <a:custGeom>
            <a:rect b="b" l="l" r="r" t="t"/>
            <a:pathLst>
              <a:path extrusionOk="0" h="7233600" w="5970665">
                <a:moveTo>
                  <a:pt x="0" y="0"/>
                </a:moveTo>
                <a:lnTo>
                  <a:pt x="5970665" y="0"/>
                </a:lnTo>
                <a:lnTo>
                  <a:pt x="5970665" y="7233600"/>
                </a:lnTo>
                <a:lnTo>
                  <a:pt x="0" y="723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"/>
            </a:blip>
            <a:stretch>
              <a:fillRect b="0" l="0" r="-1662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8317150" cy="10285320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675026" y="3595981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CSC 411 ML Lecture 7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53815" y="763354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Bunmi Akinremi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53815" y="811421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Engineer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595586" y="7633544"/>
            <a:ext cx="30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14th Apr 2026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404143" y="8114214"/>
            <a:ext cx="41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SST Lab 2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43400" y="5282924"/>
            <a:ext cx="9338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Selection, Evaluation, and Learning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1290517" y="2184406"/>
            <a:ext cx="159687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accuracy is often misleading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Bias-Variance tradeoff, Generalisation, and Cross-validation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Precision, recall, F1, ROC-AUC, Confusion Matrix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Business-aligned metrics: conversion rates, latency, robustness, scalability, efficiency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Learning Theory: PAC learning and generalisation bounds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marR="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oppins"/>
              <a:buChar char="❏"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Lab</a:t>
            </a: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Metric selection for Kaggle use cases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290517" y="933450"/>
            <a:ext cx="441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Brief Overview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of The ML Workflow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442933" y="2508250"/>
            <a:ext cx="785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Problem Formulation</a:t>
            </a:r>
            <a:endParaRPr sz="2800"/>
          </a:p>
        </p:txBody>
      </p:sp>
      <p:sp>
        <p:nvSpPr>
          <p:cNvPr id="111" name="Google Shape;111;p15"/>
          <p:cNvSpPr txBox="1"/>
          <p:nvPr/>
        </p:nvSpPr>
        <p:spPr>
          <a:xfrm>
            <a:off x="2459983" y="3248175"/>
            <a:ext cx="76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Gather and organize data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188800" y="3988075"/>
            <a:ext cx="806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Preprocessing, cleaning, and visualizing</a:t>
            </a:r>
            <a:endParaRPr sz="2800"/>
          </a:p>
        </p:txBody>
      </p:sp>
      <p:sp>
        <p:nvSpPr>
          <p:cNvPr id="113" name="Google Shape;113;p15"/>
          <p:cNvSpPr txBox="1"/>
          <p:nvPr/>
        </p:nvSpPr>
        <p:spPr>
          <a:xfrm>
            <a:off x="3996900" y="4890700"/>
            <a:ext cx="856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Choose a model and optimize</a:t>
            </a:r>
            <a:endParaRPr sz="2800"/>
          </a:p>
        </p:txBody>
      </p:sp>
      <p:sp>
        <p:nvSpPr>
          <p:cNvPr id="114" name="Google Shape;114;p15"/>
          <p:cNvSpPr txBox="1"/>
          <p:nvPr/>
        </p:nvSpPr>
        <p:spPr>
          <a:xfrm>
            <a:off x="4724400" y="5793325"/>
            <a:ext cx="856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Training: Fit a new model on the training set.</a:t>
            </a:r>
            <a:endParaRPr sz="2800"/>
          </a:p>
        </p:txBody>
      </p:sp>
      <p:sp>
        <p:nvSpPr>
          <p:cNvPr id="115" name="Google Shape;115;p15"/>
          <p:cNvSpPr txBox="1"/>
          <p:nvPr/>
        </p:nvSpPr>
        <p:spPr>
          <a:xfrm>
            <a:off x="5431050" y="6695950"/>
            <a:ext cx="856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Linear Models &amp; Regularization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431050" y="7598575"/>
            <a:ext cx="856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Non-Parametric Models &amp; Ensembles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113875" y="8501200"/>
            <a:ext cx="9878400" cy="492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Model Selection, Evaluation, and Learning Theory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1445703" y="1022138"/>
            <a:ext cx="1134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and Learning Theory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40825" y="2572325"/>
            <a:ext cx="83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The ML Development Workflow Recap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2934250" y="3589850"/>
            <a:ext cx="8982600" cy="431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Training: Fit a new model on the training set.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888225" y="4436950"/>
            <a:ext cx="9171300" cy="103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Model Selection: Estimate performance on the development (dev) set.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558350" y="6032200"/>
            <a:ext cx="9171300" cy="1034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Evaluation: Estimate real-world performance on the test set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1423550" y="2569600"/>
            <a:ext cx="9531300" cy="2909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Core Goal: Generalization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Models must perform well on unseen data, not just training data.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model that generalizes is accurate on a hold-out test set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1423532" y="1022150"/>
            <a:ext cx="1439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Why?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423550" y="6093225"/>
            <a:ext cx="9531300" cy="2413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Need for Nuanced Metrics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"Performance" is subjective and task-dependent.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Different errors carry different costs in the real world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1423550" y="2569600"/>
            <a:ext cx="7720500" cy="241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Classification Accuracy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simplest and most natural metric for classification algorithms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8"/>
          <p:cNvSpPr txBox="1"/>
          <p:nvPr/>
        </p:nvSpPr>
        <p:spPr>
          <a:xfrm>
            <a:off x="1423546" y="1022150"/>
            <a:ext cx="154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Trap of Accuracy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423550" y="5451975"/>
            <a:ext cx="7720500" cy="2909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Why Accuracy is Often Misleading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Accuracy fails drastically with imbalanced classes.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Example: A dataset with 99% healthy patients and 1% sick patients.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18" title="Screenshot 2026-04-12 at 18.45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8425" y="4267200"/>
            <a:ext cx="73152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423550" y="2569600"/>
            <a:ext cx="12924900" cy="9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square matrix reporting the exact counts of prediction outcomes.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Breaks down predictions into four categories: TP, TN, FP, FN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6" name="Google Shape;156;p1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57" name="Google Shape;15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9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Confusion Matrix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423550" y="4438425"/>
            <a:ext cx="7206900" cy="3404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True Positives and True Negatives 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True Positive (TP): Model predicts positive, and the actual label is positive.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True Negative (TN): Model predicts negative, and the actual label is negative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806050" y="4438425"/>
            <a:ext cx="7633800" cy="3404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False Positives and False Negatives 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False Positive (FP): Model predicts positive, but the actual label is negative (Type I Error).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False Negative (FN): Model predicts negative, but the actual label is positive (Type II Error)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1423550" y="2569600"/>
            <a:ext cx="7206900" cy="241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Precision (Positive Predictive Value)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"Of the items predicted positive, how many were truly positive?"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68" name="Google Shape;16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20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Confusion Matrix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1423550" y="6524900"/>
            <a:ext cx="7206900" cy="1917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Recall (Sensitivity / True Positive Rate)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"Of all the actual positives, how many did we successfully find?"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0" title="Screenshot 2026-04-12 at 19.01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6700" y="2683206"/>
            <a:ext cx="6648450" cy="190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title="Screenshot 2026-04-12 at 19.03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5250" y="6398000"/>
            <a:ext cx="66484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79" name="Google Shape;17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1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Confusion Matrix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361850" y="2373300"/>
            <a:ext cx="11971200" cy="2909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Precision-Recall Trade-off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Optimize for Recall: Medical diagnosis (do not miss a sick patient, even if it means false alarms).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Optimize for Precision: Spam filtering (do not label a legitimate email as spam unless very certain).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88" name="Google Shape;188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2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Confusion Matrix</a:t>
            </a:r>
            <a:endParaRPr/>
          </a:p>
        </p:txBody>
      </p:sp>
      <p:pic>
        <p:nvPicPr>
          <p:cNvPr id="191" name="Google Shape;191;p22" title="Screenshot 2026-04-12 at 19.09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5711" y="2631874"/>
            <a:ext cx="8477865" cy="21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1344422" y="2723900"/>
            <a:ext cx="6924300" cy="1917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F1-Score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harmonic (geometric) mean of Precision and Recall.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2" title="Screenshot 2026-04-12 at 19.13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9363" y="6245924"/>
            <a:ext cx="82105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1109847" y="6245925"/>
            <a:ext cx="6924300" cy="241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 Specificity (True Negative Rate)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Useful when accurately detecting the absence of a condition is also critical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1423550" y="2569600"/>
            <a:ext cx="659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Shifting the Decision Threshold</a:t>
            </a:r>
            <a:endParaRPr b="1" sz="3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0" name="Google Shape;200;p2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01" name="Google Shape;201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3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Evaluation Metrics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423550" y="3710625"/>
            <a:ext cx="10546800" cy="19179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Classifiers often output a probability (e.g., Logistic Regression).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Standard threshold is 0.5, but this can be adjusted to favor Precision or Recall.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4"/>
          <p:cNvGrpSpPr/>
          <p:nvPr/>
        </p:nvGrpSpPr>
        <p:grpSpPr>
          <a:xfrm>
            <a:off x="816554" y="1179444"/>
            <a:ext cx="424292" cy="424292"/>
            <a:chOff x="0" y="0"/>
            <a:chExt cx="812800" cy="812800"/>
          </a:xfrm>
        </p:grpSpPr>
        <p:sp>
          <p:nvSpPr>
            <p:cNvPr id="210" name="Google Shape;210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24"/>
          <p:cNvGrpSpPr/>
          <p:nvPr/>
        </p:nvGrpSpPr>
        <p:grpSpPr>
          <a:xfrm>
            <a:off x="1290517" y="2145400"/>
            <a:ext cx="10768733" cy="2998100"/>
            <a:chOff x="0" y="-47613"/>
            <a:chExt cx="14358311" cy="3997467"/>
          </a:xfrm>
        </p:grpSpPr>
        <p:cxnSp>
          <p:nvCxnSpPr>
            <p:cNvPr id="213" name="Google Shape;213;p24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" name="Google Shape;214;p24"/>
            <p:cNvSpPr txBox="1"/>
            <p:nvPr/>
          </p:nvSpPr>
          <p:spPr>
            <a:xfrm>
              <a:off x="11" y="1140653"/>
              <a:ext cx="14358300" cy="28092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Plots True Positive Rate (TPR) vs. False Positive Rate (FPR) across all possible thresholds.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Visualizes the trade-off between sensitivity and false alarms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9" y="-47613"/>
              <a:ext cx="121134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Receiver Operating Characteristic (ROC) Curve</a:t>
              </a:r>
              <a:endParaRPr sz="3200"/>
            </a:p>
          </p:txBody>
        </p:sp>
      </p:grpSp>
      <p:grpSp>
        <p:nvGrpSpPr>
          <p:cNvPr id="216" name="Google Shape;216;p24"/>
          <p:cNvGrpSpPr/>
          <p:nvPr/>
        </p:nvGrpSpPr>
        <p:grpSpPr>
          <a:xfrm>
            <a:off x="13730009" y="-180826"/>
            <a:ext cx="4557991" cy="10467826"/>
            <a:chOff x="0" y="-47625"/>
            <a:chExt cx="1200458" cy="2756958"/>
          </a:xfrm>
        </p:grpSpPr>
        <p:sp>
          <p:nvSpPr>
            <p:cNvPr id="217" name="Google Shape;217;p24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4"/>
            <p:cNvSpPr txBox="1"/>
            <p:nvPr/>
          </p:nvSpPr>
          <p:spPr>
            <a:xfrm>
              <a:off x="0" y="-47625"/>
              <a:ext cx="1200458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0" y="9245143"/>
            <a:ext cx="18288000" cy="1041857"/>
            <a:chOff x="0" y="-337542"/>
            <a:chExt cx="24384000" cy="1389143"/>
          </a:xfrm>
        </p:grpSpPr>
        <p:grpSp>
          <p:nvGrpSpPr>
            <p:cNvPr id="220" name="Google Shape;220;p24"/>
            <p:cNvGrpSpPr/>
            <p:nvPr/>
          </p:nvGrpSpPr>
          <p:grpSpPr>
            <a:xfrm>
              <a:off x="0" y="-337542"/>
              <a:ext cx="24384000" cy="1389143"/>
              <a:chOff x="0" y="-66675"/>
              <a:chExt cx="4816593" cy="274399"/>
            </a:xfrm>
          </p:grpSpPr>
          <p:sp>
            <p:nvSpPr>
              <p:cNvPr id="221" name="Google Shape;221;p24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4"/>
              <p:cNvSpPr txBox="1"/>
              <p:nvPr/>
            </p:nvSpPr>
            <p:spPr>
              <a:xfrm>
                <a:off x="0" y="-66675"/>
                <a:ext cx="4816593" cy="274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" name="Google Shape;223;p24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4"/>
            <p:cNvSpPr txBox="1"/>
            <p:nvPr/>
          </p:nvSpPr>
          <p:spPr>
            <a:xfrm>
              <a:off x="11929102" y="315127"/>
              <a:ext cx="2540331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225" name="Google Shape;225;p24"/>
            <p:cNvSpPr txBox="1"/>
            <p:nvPr/>
          </p:nvSpPr>
          <p:spPr>
            <a:xfrm>
              <a:off x="15881835" y="299139"/>
              <a:ext cx="1909630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226" name="Google Shape;226;p24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4"/>
            <p:cNvSpPr txBox="1"/>
            <p:nvPr/>
          </p:nvSpPr>
          <p:spPr>
            <a:xfrm>
              <a:off x="19555950" y="304468"/>
              <a:ext cx="3456450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228" name="Google Shape;228;p24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229" name="Google Shape;229;p24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230" name="Google Shape;230;p24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3320091" y="326465"/>
              <a:ext cx="6843711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232" name="Google Shape;232;p24"/>
          <p:cNvSpPr txBox="1"/>
          <p:nvPr/>
        </p:nvSpPr>
        <p:spPr>
          <a:xfrm>
            <a:off x="1623080" y="1022138"/>
            <a:ext cx="875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Evaluation Metrics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1290488" y="6889025"/>
            <a:ext cx="10768800" cy="1848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single scalar value summarizing the ROC curve.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Perfect classifier = 1.0. Random guessing = 0.5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1290499" y="6138550"/>
            <a:ext cx="81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Area Under the Curve (ROC-AUC)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40" name="Google Shape;240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1290517" y="2145400"/>
            <a:ext cx="10768733" cy="3400175"/>
            <a:chOff x="0" y="-47613"/>
            <a:chExt cx="14358311" cy="4533567"/>
          </a:xfrm>
        </p:grpSpPr>
        <p:cxnSp>
          <p:nvCxnSpPr>
            <p:cNvPr id="243" name="Google Shape;243;p25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25"/>
            <p:cNvSpPr txBox="1"/>
            <p:nvPr/>
          </p:nvSpPr>
          <p:spPr>
            <a:xfrm>
              <a:off x="11" y="1140653"/>
              <a:ext cx="14358300" cy="33453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Macro-average: Average the binary one-vs-all metrics for each class equally.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Micro-average: Average the binary metrics for each individual data point.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25"/>
            <p:cNvSpPr txBox="1"/>
            <p:nvPr/>
          </p:nvSpPr>
          <p:spPr>
            <a:xfrm>
              <a:off x="9" y="-47613"/>
              <a:ext cx="121134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Multi-Class Evaluation</a:t>
              </a:r>
              <a:endParaRPr sz="3200"/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247" name="Google Shape;247;p25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5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25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250" name="Google Shape;250;p25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251" name="Google Shape;251;p25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5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25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255" name="Google Shape;255;p25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256" name="Google Shape;256;p25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5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258" name="Google Shape;258;p25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259" name="Google Shape;259;p25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260" name="Google Shape;260;p25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262" name="Google Shape;262;p25"/>
          <p:cNvSpPr txBox="1"/>
          <p:nvPr/>
        </p:nvSpPr>
        <p:spPr>
          <a:xfrm>
            <a:off x="1623080" y="1022138"/>
            <a:ext cx="875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Evaluation Metrics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290488" y="6889025"/>
            <a:ext cx="10768800" cy="1848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Regression predicts continuous values.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Metrics: Mean Squared Error (MSE), Root Mean Squared Error (RMSE), R</a:t>
            </a:r>
            <a:r>
              <a:rPr baseline="30000" lang="en-US" sz="28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 coefficient of determination.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290499" y="6138550"/>
            <a:ext cx="81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Evaluating Regression Models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1837050" y="6880400"/>
            <a:ext cx="14613900" cy="120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Poppins"/>
                <a:ea typeface="Poppins"/>
                <a:cs typeface="Poppins"/>
                <a:sym typeface="Poppins"/>
              </a:rPr>
              <a:t> A high ROC-AUC does not guarantee that the model will actually generate revenue, save time, or improve the user experience.</a:t>
            </a:r>
            <a:endParaRPr sz="2800"/>
          </a:p>
        </p:txBody>
      </p:sp>
      <p:grpSp>
        <p:nvGrpSpPr>
          <p:cNvPr id="270" name="Google Shape;270;p2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71" name="Google Shape;27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26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Business-Aligned Metrics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423550" y="2784375"/>
            <a:ext cx="83826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Beyond Statistical Metrics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F1 and ROC-AUC are proxy metrics for statistical performance.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Industry requires translating statistical wins into business value.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80" name="Google Shape;280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27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Business-Aligned Metrics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242300" y="2918000"/>
            <a:ext cx="6659400" cy="3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Conversion Rates &amp; ROI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Recommendation systems (e.g., Netflix, Amazon) optimize for user clicks and purchases.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 1% increase in precision might translate to millions in Return on Investment (ROI).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9784625" y="2918000"/>
            <a:ext cx="66594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Latency and Inference Speed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Time taken to generate a prediction (milliseconds).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Crucial for real-time systems (e.g., algorithmic trading, autonomous driving).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90" name="Google Shape;290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28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Business-Aligned Metrics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240825" y="2811125"/>
            <a:ext cx="66594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Scalability and Throughput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Can the model handle millions of concurrent requests?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Requires optimizing Docker configurations and cloud infrastructure.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9783150" y="2811125"/>
            <a:ext cx="66594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Robustness and Reliability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How does the model handle noisy, missing, or adversarial inputs?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Uptime guarantees (e.g., 99.99% availability).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Business-Aligned Metrics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1423550" y="2837850"/>
            <a:ext cx="13161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Translating ML Metrics to Business Value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Data scientists must communicate trade-offs to non-technical stakeholders.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"Lowering the decision threshold increases our marketing costs by 5%, but captures 15% more potential leads."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3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09" name="Google Shape;309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30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312" name="Google Shape;312;p30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315" name="Google Shape;315;p30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316" name="Google Shape;316;p30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30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30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0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320" name="Google Shape;320;p30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321" name="Google Shape;321;p30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0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323" name="Google Shape;323;p30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324" name="Google Shape;324;p30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325" name="Google Shape;325;p30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0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327" name="Google Shape;327;p30"/>
          <p:cNvSpPr txBox="1"/>
          <p:nvPr/>
        </p:nvSpPr>
        <p:spPr>
          <a:xfrm>
            <a:off x="1623080" y="1022138"/>
            <a:ext cx="875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Bias-Variance Tradeoff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1240825" y="3068125"/>
            <a:ext cx="10768800" cy="1430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difference between training loss and test loss.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Generalization Error = Bias + Variance + Irreducible Noise.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1240837" y="2317650"/>
            <a:ext cx="817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What is Generalization Error?</a:t>
            </a:r>
            <a:endParaRPr b="1" sz="3200"/>
          </a:p>
        </p:txBody>
      </p:sp>
      <p:sp>
        <p:nvSpPr>
          <p:cNvPr id="330" name="Google Shape;330;p30"/>
          <p:cNvSpPr txBox="1"/>
          <p:nvPr/>
        </p:nvSpPr>
        <p:spPr>
          <a:xfrm>
            <a:off x="1099325" y="4950000"/>
            <a:ext cx="5954700" cy="3873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Underfitting (High Bias)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model is too simple to capture the underlying pattern.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Example: Fitting a straight line to a highly curved dataset.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7414663" y="4950000"/>
            <a:ext cx="5954700" cy="3873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Overfitting (High Variance)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model is too complex and perfectly memorizes the training noise.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Fails to generalize to unseen test examples.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37" name="Google Shape;337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31"/>
          <p:cNvGrpSpPr/>
          <p:nvPr/>
        </p:nvGrpSpPr>
        <p:grpSpPr>
          <a:xfrm>
            <a:off x="14157349" y="-180825"/>
            <a:ext cx="4131265" cy="10468053"/>
            <a:chOff x="0" y="-47625"/>
            <a:chExt cx="1200600" cy="2757000"/>
          </a:xfrm>
        </p:grpSpPr>
        <p:sp>
          <p:nvSpPr>
            <p:cNvPr id="340" name="Google Shape;340;p31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1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31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343" name="Google Shape;343;p31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344" name="Google Shape;344;p31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31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6" name="Google Shape;346;p31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1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349" name="Google Shape;349;p31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1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351" name="Google Shape;351;p31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352" name="Google Shape;352;p31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353" name="Google Shape;353;p31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1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355" name="Google Shape;355;p31"/>
          <p:cNvSpPr txBox="1"/>
          <p:nvPr/>
        </p:nvSpPr>
        <p:spPr>
          <a:xfrm>
            <a:off x="1623073" y="1022150"/>
            <a:ext cx="1264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Bias-Variance Decomposition Math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1240825" y="5508550"/>
            <a:ext cx="9025800" cy="1922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Simpler models: Larger bias, smaller variance,.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Complex models: Smaller bias, larger variance.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1249150" y="7894800"/>
            <a:ext cx="122793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Sweet Spot?</a:t>
            </a:r>
            <a:endParaRPr b="1" sz="32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Optimal complexity achieved via regularization and cross-validation</a:t>
            </a:r>
            <a:endParaRPr sz="32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58" name="Google Shape;358;p31" title="Screenshot 2026-04-12 at 21.43.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9425" y="4111550"/>
            <a:ext cx="82486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1" title="Screenshot 2026-04-12 at 21.45.0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6550" y="2838450"/>
            <a:ext cx="131445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3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65" name="Google Shape;365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32"/>
          <p:cNvGrpSpPr/>
          <p:nvPr/>
        </p:nvGrpSpPr>
        <p:grpSpPr>
          <a:xfrm>
            <a:off x="13968725" y="-181050"/>
            <a:ext cx="4319279" cy="10468053"/>
            <a:chOff x="0" y="-47625"/>
            <a:chExt cx="1200600" cy="2757000"/>
          </a:xfrm>
        </p:grpSpPr>
        <p:sp>
          <p:nvSpPr>
            <p:cNvPr id="368" name="Google Shape;368;p32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2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32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371" name="Google Shape;371;p32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372" name="Google Shape;372;p32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32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4" name="Google Shape;374;p32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2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376" name="Google Shape;376;p32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377" name="Google Shape;377;p32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2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379" name="Google Shape;379;p32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380" name="Google Shape;380;p32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381" name="Google Shape;381;p32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2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383" name="Google Shape;383;p32"/>
          <p:cNvSpPr txBox="1"/>
          <p:nvPr/>
        </p:nvSpPr>
        <p:spPr>
          <a:xfrm>
            <a:off x="1623075" y="1022150"/>
            <a:ext cx="1159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Selection and Cross-Validation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1240825" y="3379275"/>
            <a:ext cx="125196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(Dev) Set: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Used to tune hyperparameters and select models.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1240825" y="2601475"/>
            <a:ext cx="12519600" cy="492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Training Set:</a:t>
            </a:r>
            <a:r>
              <a:rPr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 Used to fit the algorithm's parameters.</a:t>
            </a:r>
            <a:endParaRPr sz="32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1240825" y="4157075"/>
            <a:ext cx="125196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Set: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Used strictly at the end to estimate real-world performance,.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1268875" y="5382525"/>
            <a:ext cx="12519600" cy="30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Limitations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❏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single static split can be highly sensitive to how the data was randomly divided.</a:t>
            </a:r>
            <a:endParaRPr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❏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Wastes valuable training data if the dataset is very small.</a:t>
            </a:r>
            <a:endParaRPr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3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93" name="Google Shape;393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33"/>
          <p:cNvSpPr txBox="1"/>
          <p:nvPr/>
        </p:nvSpPr>
        <p:spPr>
          <a:xfrm>
            <a:off x="1555349" y="1022150"/>
            <a:ext cx="122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K-Fold Cross-Validation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1159650" y="2727125"/>
            <a:ext cx="73104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Divides data into K equal folds.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Iteratively trains on K−1 folds and tests on the remaining 1 fold.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p33"/>
          <p:cNvSpPr txBox="1"/>
          <p:nvPr/>
        </p:nvSpPr>
        <p:spPr>
          <a:xfrm>
            <a:off x="10340450" y="2858625"/>
            <a:ext cx="7074300" cy="31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How K-Fold Works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Yields K different performance estimates.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Average the scores to get a highly reliable estimate of generalization performance.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34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03" name="Google Shape;403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34"/>
          <p:cNvSpPr txBox="1"/>
          <p:nvPr/>
        </p:nvSpPr>
        <p:spPr>
          <a:xfrm>
            <a:off x="1555349" y="1022150"/>
            <a:ext cx="122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Leave-One-Out Cross-Validation (LOOCV)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1159646" y="2727125"/>
            <a:ext cx="76575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special extreme case where K=N (N is the total number of training examples).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Recommended for extremely small datasets.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10767950" y="2858625"/>
            <a:ext cx="6646500" cy="1320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You train on all data except one single point, test on that point, and repeat N times.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3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13" name="Google Shape;413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35"/>
          <p:cNvSpPr txBox="1"/>
          <p:nvPr/>
        </p:nvSpPr>
        <p:spPr>
          <a:xfrm>
            <a:off x="1555349" y="1022150"/>
            <a:ext cx="122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 Tuning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1159650" y="2727125"/>
            <a:ext cx="84594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Grid Search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Optuna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Hyperopt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RayTune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Hyperparameters (e.g., regularization strength, tree depth) are not learned automatically.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1020325" y="2858625"/>
            <a:ext cx="6394200" cy="1320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Grid Search evaluates all possible combinations of hyperparameters via cross-validation.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3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23" name="Google Shape;423;p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36"/>
          <p:cNvSpPr txBox="1"/>
          <p:nvPr/>
        </p:nvSpPr>
        <p:spPr>
          <a:xfrm>
            <a:off x="1555349" y="1022150"/>
            <a:ext cx="122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Theory &amp; Generalization Bounds</a:t>
            </a:r>
            <a:endParaRPr/>
          </a:p>
        </p:txBody>
      </p:sp>
      <p:sp>
        <p:nvSpPr>
          <p:cNvPr id="426" name="Google Shape;426;p36"/>
          <p:cNvSpPr txBox="1"/>
          <p:nvPr/>
        </p:nvSpPr>
        <p:spPr>
          <a:xfrm>
            <a:off x="1240821" y="2427525"/>
            <a:ext cx="765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Introduction to Learning Theory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11020325" y="2308500"/>
            <a:ext cx="6394200" cy="224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Computational Learning Theory seeks to establish formal, provable bounds on generalization error, explaining mathematically why and when learning from data actually works.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1240821" y="3502775"/>
            <a:ext cx="76575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Can we mathematically guarantee that learning will be successful?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Establishing formal bounds on generalization error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3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34" name="Google Shape;434;p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37"/>
          <p:cNvSpPr txBox="1"/>
          <p:nvPr/>
        </p:nvSpPr>
        <p:spPr>
          <a:xfrm>
            <a:off x="1512225" y="1022150"/>
            <a:ext cx="132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Probably Approximately Correct (PAC) Learning</a:t>
            </a:r>
            <a:endParaRPr/>
          </a:p>
        </p:txBody>
      </p:sp>
      <p:grpSp>
        <p:nvGrpSpPr>
          <p:cNvPr id="437" name="Google Shape;437;p37"/>
          <p:cNvGrpSpPr/>
          <p:nvPr/>
        </p:nvGrpSpPr>
        <p:grpSpPr>
          <a:xfrm>
            <a:off x="1240816" y="3724887"/>
            <a:ext cx="7546951" cy="4973373"/>
            <a:chOff x="-1" y="-47623"/>
            <a:chExt cx="10062601" cy="6631164"/>
          </a:xfrm>
        </p:grpSpPr>
        <p:cxnSp>
          <p:nvCxnSpPr>
            <p:cNvPr id="438" name="Google Shape;438;p37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9" name="Google Shape;439;p37"/>
            <p:cNvSpPr txBox="1"/>
            <p:nvPr/>
          </p:nvSpPr>
          <p:spPr>
            <a:xfrm>
              <a:off x="0" y="1140641"/>
              <a:ext cx="10062600" cy="5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Approximately Correct: The error rate is bounded by a small value ϵ.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Probably: The probability of failing to achieve this is bounded by a small value δ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Mathematically, we want to prove that with high probability (at least 1−δ), the learning algorithm will output a hypothesis whose true error rate is very small (less than ϵ). 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40" name="Google Shape;440;p37"/>
            <p:cNvSpPr txBox="1"/>
            <p:nvPr/>
          </p:nvSpPr>
          <p:spPr>
            <a:xfrm>
              <a:off x="-1" y="-47623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The PAC Framework Math</a:t>
              </a:r>
              <a:endParaRPr b="1"/>
            </a:p>
          </p:txBody>
        </p:sp>
      </p:grpSp>
      <p:grpSp>
        <p:nvGrpSpPr>
          <p:cNvPr id="441" name="Google Shape;441;p37"/>
          <p:cNvGrpSpPr/>
          <p:nvPr/>
        </p:nvGrpSpPr>
        <p:grpSpPr>
          <a:xfrm>
            <a:off x="9497388" y="3724886"/>
            <a:ext cx="7546951" cy="3592549"/>
            <a:chOff x="-1" y="-47624"/>
            <a:chExt cx="10062601" cy="4790065"/>
          </a:xfrm>
        </p:grpSpPr>
        <p:cxnSp>
          <p:nvCxnSpPr>
            <p:cNvPr id="442" name="Google Shape;442;p37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3" name="Google Shape;443;p37"/>
            <p:cNvSpPr txBox="1"/>
            <p:nvPr/>
          </p:nvSpPr>
          <p:spPr>
            <a:xfrm>
              <a:off x="0" y="1140641"/>
              <a:ext cx="10062600" cy="36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How much training data N is required to achieve PAC guarantees?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The theory proves that the required data scales with the complexity (or size) of the hypothesis space H, and inversely with the error margins.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44" name="Google Shape;444;p37"/>
            <p:cNvSpPr txBox="1"/>
            <p:nvPr/>
          </p:nvSpPr>
          <p:spPr>
            <a:xfrm>
              <a:off x="-1" y="-47624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Sample Complexity</a:t>
              </a:r>
              <a:endParaRPr b="1"/>
            </a:p>
          </p:txBody>
        </p:sp>
      </p:grpSp>
      <p:sp>
        <p:nvSpPr>
          <p:cNvPr id="445" name="Google Shape;445;p37"/>
          <p:cNvSpPr txBox="1"/>
          <p:nvPr/>
        </p:nvSpPr>
        <p:spPr>
          <a:xfrm>
            <a:off x="1243650" y="2126850"/>
            <a:ext cx="15800700" cy="1045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Framework proposed by Leslie Valiant. We cannot guarantee a perfect model 100% of the time due to random sampling.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37" title="Screenshot 2026-04-12 at 22.1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545585"/>
            <a:ext cx="35242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7" title="Screenshot 2026-04-12 at 22.15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025" y="7817860"/>
            <a:ext cx="40576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 txBox="1"/>
          <p:nvPr/>
        </p:nvSpPr>
        <p:spPr>
          <a:xfrm>
            <a:off x="1398600" y="4141500"/>
            <a:ext cx="7696800" cy="4396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Hoeffding's Inequality and Concentration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Probability bounds utilizing concentration inequalities (Markov, Chebyshev, Hoeffding).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Proves that as we collect more data, the empirical error we calculate on the training set tightly concentrates around the true generalization error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3" name="Google Shape;453;p3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54" name="Google Shape;454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3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6" name="Google Shape;456;p38"/>
          <p:cNvSpPr txBox="1"/>
          <p:nvPr/>
        </p:nvSpPr>
        <p:spPr>
          <a:xfrm>
            <a:off x="1398606" y="1022138"/>
            <a:ext cx="994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Generalization Bounds</a:t>
            </a:r>
            <a:endParaRPr/>
          </a:p>
        </p:txBody>
      </p:sp>
      <p:sp>
        <p:nvSpPr>
          <p:cNvPr id="457" name="Google Shape;457;p38"/>
          <p:cNvSpPr txBox="1"/>
          <p:nvPr/>
        </p:nvSpPr>
        <p:spPr>
          <a:xfrm>
            <a:off x="1398603" y="2146794"/>
            <a:ext cx="15968700" cy="11205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These are formal mathematical inequalities that place an absolute limit on how much the true expected error can deviate from the empirical training error we measure.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38"/>
          <p:cNvSpPr txBox="1"/>
          <p:nvPr/>
        </p:nvSpPr>
        <p:spPr>
          <a:xfrm>
            <a:off x="9859500" y="3866775"/>
            <a:ext cx="7507800" cy="4891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But what if our hypothesis space is infinite, like all possible linear regressions? 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VC Dimension (Vapnik-Chervonenkis)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measure of the "capacity" or complexity of a hypothesis space (e.g., linear classifiers).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Used for infinite hypothesis spaces where standard PAC bounds fail.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9"/>
          <p:cNvSpPr txBox="1"/>
          <p:nvPr/>
        </p:nvSpPr>
        <p:spPr>
          <a:xfrm>
            <a:off x="1353525" y="2863525"/>
            <a:ext cx="15125100" cy="1422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Balancing the empirical training error against the capacity (VC dimension) of the mode.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theoretical foundation of regularization and SVMs.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4" name="Google Shape;464;p3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65" name="Google Shape;465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39"/>
          <p:cNvSpPr txBox="1"/>
          <p:nvPr/>
        </p:nvSpPr>
        <p:spPr>
          <a:xfrm>
            <a:off x="1534408" y="1022138"/>
            <a:ext cx="1074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Structural Risk Minimization</a:t>
            </a:r>
            <a:endParaRPr/>
          </a:p>
        </p:txBody>
      </p:sp>
      <p:sp>
        <p:nvSpPr>
          <p:cNvPr id="468" name="Google Shape;468;p39"/>
          <p:cNvSpPr txBox="1"/>
          <p:nvPr/>
        </p:nvSpPr>
        <p:spPr>
          <a:xfrm>
            <a:off x="1353525" y="6203450"/>
            <a:ext cx="15426300" cy="92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Poppins"/>
                <a:ea typeface="Poppins"/>
                <a:cs typeface="Poppins"/>
                <a:sym typeface="Poppins"/>
              </a:rPr>
              <a:t>To achieve the best generalization, we must strike a balance between minimizing training error and controlling the VC dimension (capacity) of our model. </a:t>
            </a:r>
            <a:endParaRPr i="1"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0"/>
          <p:cNvSpPr txBox="1"/>
          <p:nvPr/>
        </p:nvSpPr>
        <p:spPr>
          <a:xfrm>
            <a:off x="1290517" y="2355856"/>
            <a:ext cx="1596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Lab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: Metric selection for Kaggle use cases.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Implement cross-validation, grid search, and plot ROC curves for imbalanced classification tasks.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74" name="Google Shape;474;p4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75" name="Google Shape;475;p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7" name="Google Shape;477;p40"/>
          <p:cNvSpPr txBox="1"/>
          <p:nvPr/>
        </p:nvSpPr>
        <p:spPr>
          <a:xfrm>
            <a:off x="1575692" y="1022138"/>
            <a:ext cx="549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7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"/>
          <p:cNvSpPr/>
          <p:nvPr/>
        </p:nvSpPr>
        <p:spPr>
          <a:xfrm>
            <a:off x="0" y="-2217254"/>
            <a:ext cx="18317150" cy="12502574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1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p41"/>
          <p:cNvGrpSpPr/>
          <p:nvPr/>
        </p:nvGrpSpPr>
        <p:grpSpPr>
          <a:xfrm>
            <a:off x="0" y="9005143"/>
            <a:ext cx="18288000" cy="1280177"/>
            <a:chOff x="0" y="-66675"/>
            <a:chExt cx="4816593" cy="337166"/>
          </a:xfrm>
        </p:grpSpPr>
        <p:sp>
          <p:nvSpPr>
            <p:cNvPr id="485" name="Google Shape;485;p41"/>
            <p:cNvSpPr/>
            <p:nvPr/>
          </p:nvSpPr>
          <p:spPr>
            <a:xfrm>
              <a:off x="0" y="0"/>
              <a:ext cx="4816592" cy="270491"/>
            </a:xfrm>
            <a:custGeom>
              <a:rect b="b" l="l" r="r" t="t"/>
              <a:pathLst>
                <a:path extrusionOk="0" h="2704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491"/>
                  </a:lnTo>
                  <a:lnTo>
                    <a:pt x="0" y="2704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1"/>
            <p:cNvSpPr txBox="1"/>
            <p:nvPr/>
          </p:nvSpPr>
          <p:spPr>
            <a:xfrm>
              <a:off x="0" y="-66675"/>
              <a:ext cx="4816593" cy="337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41"/>
          <p:cNvSpPr/>
          <p:nvPr/>
        </p:nvSpPr>
        <p:spPr>
          <a:xfrm>
            <a:off x="762000" y="9416949"/>
            <a:ext cx="1559829" cy="709722"/>
          </a:xfrm>
          <a:custGeom>
            <a:rect b="b" l="l" r="r" t="t"/>
            <a:pathLst>
              <a:path extrusionOk="0" h="709722" w="1559829">
                <a:moveTo>
                  <a:pt x="0" y="0"/>
                </a:moveTo>
                <a:lnTo>
                  <a:pt x="1559829" y="0"/>
                </a:lnTo>
                <a:lnTo>
                  <a:pt x="1559829" y="709722"/>
                </a:lnTo>
                <a:lnTo>
                  <a:pt x="0" y="70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 txBox="1"/>
          <p:nvPr/>
        </p:nvSpPr>
        <p:spPr>
          <a:xfrm>
            <a:off x="1842750" y="3574163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489" name="Google Shape;489;p41"/>
          <p:cNvSpPr txBox="1"/>
          <p:nvPr/>
        </p:nvSpPr>
        <p:spPr>
          <a:xfrm>
            <a:off x="7883242" y="5217471"/>
            <a:ext cx="301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90" name="Google Shape;490;p41"/>
          <p:cNvSpPr txBox="1"/>
          <p:nvPr/>
        </p:nvSpPr>
        <p:spPr>
          <a:xfrm>
            <a:off x="2715171" y="9613897"/>
            <a:ext cx="1905248" cy="3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3A6E"/>
                </a:solidFill>
                <a:latin typeface="Poppins"/>
                <a:ea typeface="Poppins"/>
                <a:cs typeface="Poppins"/>
                <a:sym typeface="Poppins"/>
              </a:rPr>
              <a:t>www.pau.edu.ng</a:t>
            </a:r>
            <a:endParaRPr/>
          </a:p>
        </p:txBody>
      </p:sp>
      <p:grpSp>
        <p:nvGrpSpPr>
          <p:cNvPr id="491" name="Google Shape;491;p41"/>
          <p:cNvGrpSpPr/>
          <p:nvPr/>
        </p:nvGrpSpPr>
        <p:grpSpPr>
          <a:xfrm>
            <a:off x="11497609" y="9594669"/>
            <a:ext cx="1845990" cy="344933"/>
            <a:chOff x="0" y="-12464"/>
            <a:chExt cx="2461320" cy="459911"/>
          </a:xfrm>
        </p:grpSpPr>
        <p:sp>
          <p:nvSpPr>
            <p:cNvPr id="492" name="Google Shape;492;p41"/>
            <p:cNvSpPr txBox="1"/>
            <p:nvPr/>
          </p:nvSpPr>
          <p:spPr>
            <a:xfrm>
              <a:off x="551690" y="-12464"/>
              <a:ext cx="190963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493" name="Google Shape;493;p41"/>
            <p:cNvSpPr/>
            <p:nvPr/>
          </p:nvSpPr>
          <p:spPr>
            <a:xfrm>
              <a:off x="0" y="0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41"/>
          <p:cNvGrpSpPr/>
          <p:nvPr/>
        </p:nvGrpSpPr>
        <p:grpSpPr>
          <a:xfrm>
            <a:off x="13681595" y="9594670"/>
            <a:ext cx="3577705" cy="311417"/>
            <a:chOff x="0" y="-57150"/>
            <a:chExt cx="4770273" cy="415224"/>
          </a:xfrm>
        </p:grpSpPr>
        <p:sp>
          <p:nvSpPr>
            <p:cNvPr id="495" name="Google Shape;495;p41"/>
            <p:cNvSpPr txBox="1"/>
            <p:nvPr/>
          </p:nvSpPr>
          <p:spPr>
            <a:xfrm>
              <a:off x="1313823" y="-57150"/>
              <a:ext cx="345645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496" name="Google Shape;496;p41"/>
            <p:cNvSpPr/>
            <p:nvPr/>
          </p:nvSpPr>
          <p:spPr>
            <a:xfrm>
              <a:off x="0" y="10659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497" name="Google Shape;497;p41"/>
            <p:cNvSpPr/>
            <p:nvPr/>
          </p:nvSpPr>
          <p:spPr>
            <a:xfrm>
              <a:off x="502626" y="43807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09" y="0"/>
                  </a:lnTo>
                  <a:lnTo>
                    <a:pt x="299309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498" name="Google Shape;498;p41"/>
            <p:cNvSpPr/>
            <p:nvPr/>
          </p:nvSpPr>
          <p:spPr>
            <a:xfrm>
              <a:off x="905635" y="26793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