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0287000" cx="18288000"/>
  <p:notesSz cx="6858000" cy="9144000"/>
  <p:embeddedFontLst>
    <p:embeddedFont>
      <p:font typeface="Poppins"/>
      <p:regular r:id="rId31"/>
      <p:bold r:id="rId32"/>
      <p:italic r:id="rId33"/>
      <p:boldItalic r:id="rId34"/>
    </p:embeddedFont>
    <p:embeddedFont>
      <p:font typeface="Quattrocento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oppins-italic.fntdata"/><Relationship Id="rId10" Type="http://schemas.openxmlformats.org/officeDocument/2006/relationships/slide" Target="slides/slide5.xml"/><Relationship Id="rId32" Type="http://schemas.openxmlformats.org/officeDocument/2006/relationships/font" Target="fonts/Poppins-bold.fntdata"/><Relationship Id="rId13" Type="http://schemas.openxmlformats.org/officeDocument/2006/relationships/slide" Target="slides/slide8.xml"/><Relationship Id="rId35" Type="http://schemas.openxmlformats.org/officeDocument/2006/relationships/font" Target="fonts/QuattrocentoSans-regular.fntdata"/><Relationship Id="rId12" Type="http://schemas.openxmlformats.org/officeDocument/2006/relationships/slide" Target="slides/slide7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10.xml"/><Relationship Id="rId37" Type="http://schemas.openxmlformats.org/officeDocument/2006/relationships/font" Target="fonts/QuattrocentoSans-italic.fntdata"/><Relationship Id="rId14" Type="http://schemas.openxmlformats.org/officeDocument/2006/relationships/slide" Target="slides/slide9.xml"/><Relationship Id="rId36" Type="http://schemas.openxmlformats.org/officeDocument/2006/relationships/font" Target="fonts/Quattrocento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Quattrocento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364f6c28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d364f6c28d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364f6c28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364f6c28d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364f6c28d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d364f6c28d_0_3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59bcde55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d59bcde555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9e1c7eea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d9e1c7eea8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59bcde55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d59bcde555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364f6c28d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364f6c28d_0_3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9e1c7eea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d9e1c7eea8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364f6c28d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d364f6c28d_0_4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59bcde55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d59bcde555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364f6c28d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d364f6c28d_0_5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9e1c7eea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d9e1c7eea8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82f6cfe8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82f6cfe89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029ae1de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d029ae1deb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029ae1de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d029ae1deb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59bcde55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d59bcde555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59bcde55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d59bcde555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1b48d257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d1b48d2571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d9e1c7eea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d9e1c7eea8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d59bcde55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d59bcde555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59bcde555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d59bcde555_0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029ae1deb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d029ae1deb_0_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>
            <p:ph idx="2" type="media"/>
          </p:nvPr>
        </p:nvSpPr>
        <p:spPr>
          <a:xfrm>
            <a:off x="0" y="-23110"/>
            <a:ext cx="63246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/>
          <p:nvPr>
            <p:ph idx="3" type="pic"/>
          </p:nvPr>
        </p:nvSpPr>
        <p:spPr>
          <a:xfrm>
            <a:off x="11582400" y="3390900"/>
            <a:ext cx="6705600" cy="68961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2"/>
          <p:cNvSpPr/>
          <p:nvPr>
            <p:ph idx="4" type="pic"/>
          </p:nvPr>
        </p:nvSpPr>
        <p:spPr>
          <a:xfrm>
            <a:off x="7239000" y="952500"/>
            <a:ext cx="5486400" cy="24384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2"/>
          <p:cNvSpPr/>
          <p:nvPr>
            <p:ph idx="5" type="pic"/>
          </p:nvPr>
        </p:nvSpPr>
        <p:spPr>
          <a:xfrm>
            <a:off x="1676400" y="7353300"/>
            <a:ext cx="3962400" cy="2024062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Google Shape;16;p2"/>
          <p:cNvSpPr/>
          <p:nvPr>
            <p:ph idx="6" type="pic"/>
          </p:nvPr>
        </p:nvSpPr>
        <p:spPr>
          <a:xfrm>
            <a:off x="7239000" y="3924300"/>
            <a:ext cx="3276600" cy="2133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8"/>
          <p:cNvSpPr/>
          <p:nvPr>
            <p:ph idx="2" type="pic"/>
          </p:nvPr>
        </p:nvSpPr>
        <p:spPr>
          <a:xfrm>
            <a:off x="11430000" y="2552700"/>
            <a:ext cx="5181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8"/>
          <p:cNvSpPr/>
          <p:nvPr>
            <p:ph idx="3" type="pic"/>
          </p:nvPr>
        </p:nvSpPr>
        <p:spPr>
          <a:xfrm>
            <a:off x="1752600" y="2324100"/>
            <a:ext cx="4267200" cy="3124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00800" y="635634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0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9262631"/>
            <a:ext cx="18288000" cy="104241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6096000" y="2024700"/>
            <a:ext cx="5970665" cy="7233600"/>
          </a:xfrm>
          <a:custGeom>
            <a:rect b="b" l="l" r="r" t="t"/>
            <a:pathLst>
              <a:path extrusionOk="0" h="7233600" w="5970665">
                <a:moveTo>
                  <a:pt x="0" y="0"/>
                </a:moveTo>
                <a:lnTo>
                  <a:pt x="5970665" y="0"/>
                </a:lnTo>
                <a:lnTo>
                  <a:pt x="5970665" y="7233600"/>
                </a:lnTo>
                <a:lnTo>
                  <a:pt x="0" y="7233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000"/>
            </a:blip>
            <a:stretch>
              <a:fillRect b="0" l="0" r="-16626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jp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3A6E"/>
            </a:gs>
            <a:gs pos="100000">
              <a:srgbClr val="262091"/>
            </a:gs>
          </a:gsLst>
          <a:lin ang="0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0"/>
            <a:ext cx="18317150" cy="10285320"/>
          </a:xfrm>
          <a:custGeom>
            <a:rect b="b" l="l" r="r" t="t"/>
            <a:pathLst>
              <a:path extrusionOk="0" h="12502574" w="18317150">
                <a:moveTo>
                  <a:pt x="0" y="0"/>
                </a:moveTo>
                <a:lnTo>
                  <a:pt x="18317150" y="0"/>
                </a:lnTo>
                <a:lnTo>
                  <a:pt x="18317150" y="12502574"/>
                </a:lnTo>
                <a:lnTo>
                  <a:pt x="0" y="12502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0" l="-1192" r="-119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4595563" y="1015051"/>
            <a:ext cx="2663737" cy="1152180"/>
          </a:xfrm>
          <a:custGeom>
            <a:rect b="b" l="l" r="r" t="t"/>
            <a:pathLst>
              <a:path extrusionOk="0" h="1152180" w="2663737">
                <a:moveTo>
                  <a:pt x="0" y="0"/>
                </a:moveTo>
                <a:lnTo>
                  <a:pt x="2663737" y="0"/>
                </a:lnTo>
                <a:lnTo>
                  <a:pt x="2663737" y="1152180"/>
                </a:lnTo>
                <a:lnTo>
                  <a:pt x="0" y="1152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900" l="0" r="0" t="-19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675026" y="3595981"/>
            <a:ext cx="14631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CSC 411 ML Lecture 9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053815" y="7633544"/>
            <a:ext cx="504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Bunmi Akinremi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053815" y="8114214"/>
            <a:ext cx="504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Engineer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4595586" y="7633544"/>
            <a:ext cx="30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28th Apr 2026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3404143" y="8114214"/>
            <a:ext cx="415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Classroom 1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4343400" y="5282924"/>
            <a:ext cx="93381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Unsupervised Learning and Model Selection and Hyperparameter Tuning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1290517" y="2184406"/>
            <a:ext cx="15968700" cy="43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K-Means clustering and hierarchical clustering.</a:t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Principal Component Analysis (PCA) and geometric dimensionality reduction</a:t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Cross-validation strategies</a:t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Grid vs random search</a:t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 tuning is a waste of time</a:t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290517" y="933450"/>
            <a:ext cx="441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Brief Overview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5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07" name="Google Shape;107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5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Recap of The ML Workflow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442925" y="2508250"/>
            <a:ext cx="6123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3">
                <a:latin typeface="Poppins"/>
                <a:ea typeface="Poppins"/>
                <a:cs typeface="Poppins"/>
                <a:sym typeface="Poppins"/>
              </a:rPr>
              <a:t>Problem Formulation</a:t>
            </a:r>
            <a:endParaRPr sz="2183"/>
          </a:p>
        </p:txBody>
      </p:sp>
      <p:sp>
        <p:nvSpPr>
          <p:cNvPr id="111" name="Google Shape;111;p15"/>
          <p:cNvSpPr txBox="1"/>
          <p:nvPr/>
        </p:nvSpPr>
        <p:spPr>
          <a:xfrm>
            <a:off x="2235939" y="3085184"/>
            <a:ext cx="59358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3">
                <a:latin typeface="Poppins"/>
                <a:ea typeface="Poppins"/>
                <a:cs typeface="Poppins"/>
                <a:sym typeface="Poppins"/>
              </a:rPr>
              <a:t>Gather and organize data</a:t>
            </a:r>
            <a:endParaRPr sz="2183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2804213" y="3662098"/>
            <a:ext cx="6288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3">
                <a:latin typeface="Poppins"/>
                <a:ea typeface="Poppins"/>
                <a:cs typeface="Poppins"/>
                <a:sym typeface="Poppins"/>
              </a:rPr>
              <a:t>Preprocessing, cleaning, and visualizing</a:t>
            </a:r>
            <a:endParaRPr sz="2183"/>
          </a:p>
        </p:txBody>
      </p:sp>
      <p:sp>
        <p:nvSpPr>
          <p:cNvPr id="113" name="Google Shape;113;p15"/>
          <p:cNvSpPr txBox="1"/>
          <p:nvPr/>
        </p:nvSpPr>
        <p:spPr>
          <a:xfrm>
            <a:off x="3434305" y="4365892"/>
            <a:ext cx="6675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3">
                <a:latin typeface="Poppins"/>
                <a:ea typeface="Poppins"/>
                <a:cs typeface="Poppins"/>
                <a:sym typeface="Poppins"/>
              </a:rPr>
              <a:t>Choose a model and optimize</a:t>
            </a:r>
            <a:endParaRPr sz="2183"/>
          </a:p>
        </p:txBody>
      </p:sp>
      <p:sp>
        <p:nvSpPr>
          <p:cNvPr id="114" name="Google Shape;114;p15"/>
          <p:cNvSpPr txBox="1"/>
          <p:nvPr/>
        </p:nvSpPr>
        <p:spPr>
          <a:xfrm>
            <a:off x="4001551" y="5069686"/>
            <a:ext cx="6675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3">
                <a:latin typeface="Poppins"/>
                <a:ea typeface="Poppins"/>
                <a:cs typeface="Poppins"/>
                <a:sym typeface="Poppins"/>
              </a:rPr>
              <a:t>Training: Fit a new model on the training set.</a:t>
            </a:r>
            <a:endParaRPr sz="2183"/>
          </a:p>
        </p:txBody>
      </p:sp>
      <p:sp>
        <p:nvSpPr>
          <p:cNvPr id="115" name="Google Shape;115;p15"/>
          <p:cNvSpPr txBox="1"/>
          <p:nvPr/>
        </p:nvSpPr>
        <p:spPr>
          <a:xfrm>
            <a:off x="4552540" y="5773480"/>
            <a:ext cx="6675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8"/>
              <a:buNone/>
            </a:pPr>
            <a:r>
              <a:rPr lang="en-US" sz="2183">
                <a:latin typeface="Poppins"/>
                <a:ea typeface="Poppins"/>
                <a:cs typeface="Poppins"/>
                <a:sym typeface="Poppins"/>
              </a:rPr>
              <a:t>Linear Models &amp; Regularization</a:t>
            </a:r>
            <a:endParaRPr sz="2183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552540" y="6477274"/>
            <a:ext cx="6675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8"/>
              <a:buNone/>
            </a:pPr>
            <a:r>
              <a:rPr lang="en-US" sz="2183">
                <a:latin typeface="Poppins"/>
                <a:ea typeface="Poppins"/>
                <a:cs typeface="Poppins"/>
                <a:sym typeface="Poppins"/>
              </a:rPr>
              <a:t>Non-Parametric Models &amp; Ensembles</a:t>
            </a:r>
            <a:endParaRPr sz="2183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3882362" y="8727893"/>
            <a:ext cx="9187800" cy="4581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23"/>
              <a:buNone/>
            </a:pPr>
            <a:r>
              <a:rPr lang="en-US" sz="2976">
                <a:latin typeface="Poppins"/>
                <a:ea typeface="Poppins"/>
                <a:cs typeface="Poppins"/>
                <a:sym typeface="Poppins"/>
              </a:rPr>
              <a:t>Model Selection and Tuning</a:t>
            </a:r>
            <a:endParaRPr sz="2976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4561343" y="7099844"/>
            <a:ext cx="6675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8"/>
              <a:buNone/>
            </a:pPr>
            <a:r>
              <a:rPr lang="en-US" sz="2183">
                <a:latin typeface="Poppins"/>
                <a:ea typeface="Poppins"/>
                <a:cs typeface="Poppins"/>
                <a:sym typeface="Poppins"/>
              </a:rPr>
              <a:t>Support Vector Machines</a:t>
            </a:r>
            <a:endParaRPr sz="2183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4223758" y="7722429"/>
            <a:ext cx="7332900" cy="3360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8"/>
              <a:buNone/>
            </a:pPr>
            <a:r>
              <a:rPr lang="en-US" sz="2183">
                <a:latin typeface="Poppins"/>
                <a:ea typeface="Poppins"/>
                <a:cs typeface="Poppins"/>
                <a:sym typeface="Poppins"/>
              </a:rPr>
              <a:t>Unsupervised Learning</a:t>
            </a:r>
            <a:endParaRPr sz="2183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001558" y="8225167"/>
            <a:ext cx="7332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8"/>
              <a:buNone/>
            </a:pPr>
            <a:r>
              <a:rPr lang="en-US" sz="2183">
                <a:latin typeface="Poppins"/>
                <a:ea typeface="Poppins"/>
                <a:cs typeface="Poppins"/>
                <a:sym typeface="Poppins"/>
              </a:rPr>
              <a:t>Model Selection, Evaluation, and Learning Theory</a:t>
            </a:r>
            <a:endParaRPr sz="2183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/>
        </p:nvSpPr>
        <p:spPr>
          <a:xfrm>
            <a:off x="1423550" y="2569600"/>
            <a:ext cx="9531300" cy="92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Supervised Learning: Learns by using labeled data (e.g., predicting house prices).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6" name="Google Shape;126;p16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16"/>
          <p:cNvSpPr txBox="1"/>
          <p:nvPr/>
        </p:nvSpPr>
        <p:spPr>
          <a:xfrm>
            <a:off x="1423532" y="1022150"/>
            <a:ext cx="1439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Unsupervised Learning &amp; Model Selection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423550" y="4579125"/>
            <a:ext cx="9531300" cy="1422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❏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Unsupervised Learning: Trained using unlabeled data without any guidance or predefined outcome.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/>
        </p:nvSpPr>
        <p:spPr>
          <a:xfrm>
            <a:off x="1423550" y="2569600"/>
            <a:ext cx="7720500" cy="926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Learn the structure of data (e.g., clusters or lower dimensions).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6" name="Google Shape;136;p17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37" name="Google Shape;137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17"/>
          <p:cNvSpPr txBox="1"/>
          <p:nvPr/>
        </p:nvSpPr>
        <p:spPr>
          <a:xfrm>
            <a:off x="1423546" y="1022150"/>
            <a:ext cx="1548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Goals of Unsupervised Learning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2314200" y="4304850"/>
            <a:ext cx="7720500" cy="926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Learn the probability distribution of data to generate synthetic examples.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3963375" y="6234550"/>
            <a:ext cx="6924900" cy="1111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➢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Learn useful representations for downstream tasks.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/>
        </p:nvSpPr>
        <p:spPr>
          <a:xfrm>
            <a:off x="1423550" y="2594482"/>
            <a:ext cx="7617000" cy="926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Genomics: Grouping individuals by genetic similarity.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7" name="Google Shape;147;p18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48" name="Google Shape;148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8"/>
          <p:cNvSpPr txBox="1"/>
          <p:nvPr/>
        </p:nvSpPr>
        <p:spPr>
          <a:xfrm>
            <a:off x="1423546" y="1022150"/>
            <a:ext cx="1548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Applications in the Real World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340352" y="4155560"/>
            <a:ext cx="7720500" cy="926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E-commerce: Customer and market segmentation.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1340350" y="5488075"/>
            <a:ext cx="7617000" cy="1606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➢"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Signal Processing: Independent Component Analysis (e.g., isolating voices in a crowd).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/>
        </p:nvSpPr>
        <p:spPr>
          <a:xfrm>
            <a:off x="1423550" y="2569600"/>
            <a:ext cx="7206900" cy="2909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Clustering</a:t>
            </a: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: Grouping objects by similarity.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Dimensionality Reduction: </a:t>
            </a: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Compressing data while retaining information.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8" name="Google Shape;158;p19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59" name="Google Shape;159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19"/>
          <p:cNvSpPr txBox="1"/>
          <p:nvPr/>
        </p:nvSpPr>
        <p:spPr>
          <a:xfrm>
            <a:off x="1423548" y="1022150"/>
            <a:ext cx="1226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Unsupervised Learning: Two Main Pillars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/>
        </p:nvSpPr>
        <p:spPr>
          <a:xfrm>
            <a:off x="1423550" y="2569600"/>
            <a:ext cx="12924900" cy="1422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❏"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Clustering?</a:t>
            </a:r>
            <a:endParaRPr b="1"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Establishing the existence of classes or clusters in data.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7" name="Google Shape;167;p20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68" name="Google Shape;168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20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>
                <a:solidFill>
                  <a:srgbClr val="30303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K-Means Clustering</a:t>
            </a:r>
            <a:endParaRPr sz="48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1423546" y="5442325"/>
            <a:ext cx="7470900" cy="14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Goal</a:t>
            </a: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i="1" lang="en-US" sz="2800">
                <a:latin typeface="Poppins"/>
                <a:ea typeface="Poppins"/>
                <a:cs typeface="Poppins"/>
                <a:sym typeface="Poppins"/>
              </a:rPr>
              <a:t>Items in the same cluster are more similar to each other than to items in other clusters.</a:t>
            </a:r>
            <a:endParaRPr i="1"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10080371" y="5143500"/>
            <a:ext cx="7470900" cy="2909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Prototype-Based Clustering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Each cluster is represented by a "prototype".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Usually the centroid (average) of similar points for continuous features.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/>
        </p:nvSpPr>
        <p:spPr>
          <a:xfrm>
            <a:off x="1423550" y="2569600"/>
            <a:ext cx="7206900" cy="2909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Step 1: Specify the number of clusters, k.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Step 2: Initialize k centroids randomly.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Step 3: Assign each point to the nearest centroid.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Step 4: Recompute the centroids.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8" name="Google Shape;178;p21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79" name="Google Shape;179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1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21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K-Means Algorithm Overview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22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87" name="Google Shape;187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22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2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Distance Metric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1253850" y="2925525"/>
            <a:ext cx="8178900" cy="1917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Usually relies on Squared Euclidean Distance.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Feature scaling is mandatory!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1" name="Google Shape;191;p22" title="Screenshot 2026-04-28 at 3.51.2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6350" y="5480575"/>
            <a:ext cx="9107350" cy="215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23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197" name="Google Shape;197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2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23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K-Means Algorithm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1423550" y="2723900"/>
            <a:ext cx="7282800" cy="2413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The Objective Function (Inertia)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K-Means minimizes the Within-Cluster Sum of Squared Errors (SSE).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Also known as Cluster Inertia.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10096575" y="3441150"/>
            <a:ext cx="6259200" cy="43962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Expectation-Maximization in K-Means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Expectation Step: Assigning points to the closest current centroid.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Maximization Step: Updating the centroid to the mean of the assigned points.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/>
        </p:nvSpPr>
        <p:spPr>
          <a:xfrm>
            <a:off x="1423550" y="2569600"/>
            <a:ext cx="659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Poppins"/>
                <a:ea typeface="Poppins"/>
                <a:cs typeface="Poppins"/>
                <a:sym typeface="Poppins"/>
              </a:rPr>
              <a:t>Hard vs. Soft Clustering</a:t>
            </a:r>
            <a:endParaRPr b="1" sz="32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7" name="Google Shape;207;p24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208" name="Google Shape;208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4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24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K-Means Algorithm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1423550" y="3429000"/>
            <a:ext cx="7023900" cy="24135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Hard Clustering (K-Means): A point belongs to exactly one cluster.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Soft Clustering (Fuzzy C-Means): A point has a probability of belonging to multiple clusters.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p24"/>
          <p:cNvSpPr txBox="1"/>
          <p:nvPr/>
        </p:nvSpPr>
        <p:spPr>
          <a:xfrm>
            <a:off x="9664000" y="2569600"/>
            <a:ext cx="659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Poppins"/>
                <a:ea typeface="Poppins"/>
                <a:cs typeface="Poppins"/>
                <a:sym typeface="Poppins"/>
              </a:rPr>
              <a:t>Drawbacks of K-Means</a:t>
            </a:r>
            <a:endParaRPr b="1" sz="3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p24"/>
          <p:cNvSpPr txBox="1"/>
          <p:nvPr/>
        </p:nvSpPr>
        <p:spPr>
          <a:xfrm>
            <a:off x="9664000" y="3429000"/>
            <a:ext cx="7023900" cy="14223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Assumes clusters are spherical.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Requires the number of clusters k to be specified a priori.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/>
        </p:nvSpPr>
        <p:spPr>
          <a:xfrm>
            <a:off x="1423550" y="2569600"/>
            <a:ext cx="659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Poppins"/>
                <a:ea typeface="Poppins"/>
                <a:cs typeface="Poppins"/>
                <a:sym typeface="Poppins"/>
              </a:rPr>
              <a:t>The Elbow Method</a:t>
            </a:r>
            <a:endParaRPr b="1" sz="32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9" name="Google Shape;219;p25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220" name="Google Shape;220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2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25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K-Means Algorithm</a:t>
            </a:r>
            <a:endParaRPr/>
          </a:p>
        </p:txBody>
      </p:sp>
      <p:sp>
        <p:nvSpPr>
          <p:cNvPr id="223" name="Google Shape;223;p25"/>
          <p:cNvSpPr txBox="1"/>
          <p:nvPr/>
        </p:nvSpPr>
        <p:spPr>
          <a:xfrm>
            <a:off x="1423550" y="3429000"/>
            <a:ext cx="7023900" cy="29091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How do we choose k?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Plot the Distortion (Inertia) against the number of clusters k.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Find the "elbow" where distortion begins to decrease less rapidly.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4" name="Google Shape;224;p25" title="16822770787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9850" y="1913455"/>
            <a:ext cx="8643126" cy="635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 txBox="1"/>
          <p:nvPr/>
        </p:nvSpPr>
        <p:spPr>
          <a:xfrm>
            <a:off x="9380400" y="8419925"/>
            <a:ext cx="890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Source: Linkedin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26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231" name="Google Shape;231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2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26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Advanced &amp; Hierarchical Clustering </a:t>
            </a:r>
            <a:endParaRPr/>
          </a:p>
        </p:txBody>
      </p:sp>
      <p:sp>
        <p:nvSpPr>
          <p:cNvPr id="234" name="Google Shape;234;p26"/>
          <p:cNvSpPr txBox="1"/>
          <p:nvPr/>
        </p:nvSpPr>
        <p:spPr>
          <a:xfrm>
            <a:off x="1078202" y="3774748"/>
            <a:ext cx="7568700" cy="1809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3533" lvl="0" marL="4314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42"/>
              <a:buFont typeface="Poppins"/>
              <a:buChar char="❏"/>
            </a:pPr>
            <a:r>
              <a:rPr lang="en-US" sz="2642">
                <a:latin typeface="Poppins"/>
                <a:ea typeface="Poppins"/>
                <a:cs typeface="Poppins"/>
                <a:sym typeface="Poppins"/>
              </a:rPr>
              <a:t>Random initialization can lead to poor, sub-optimal clustering.</a:t>
            </a:r>
            <a:endParaRPr sz="2642">
              <a:latin typeface="Poppins"/>
              <a:ea typeface="Poppins"/>
              <a:cs typeface="Poppins"/>
              <a:sym typeface="Poppins"/>
            </a:endParaRPr>
          </a:p>
          <a:p>
            <a:pPr indent="-383533" lvl="0" marL="43147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42"/>
              <a:buFont typeface="Poppins"/>
              <a:buChar char="❏"/>
            </a:pPr>
            <a:r>
              <a:rPr lang="en-US" sz="2642">
                <a:latin typeface="Poppins"/>
                <a:ea typeface="Poppins"/>
                <a:cs typeface="Poppins"/>
                <a:sym typeface="Poppins"/>
              </a:rPr>
              <a:t>K-Means++: A smarter way to place initial centroids far away from each other.</a:t>
            </a:r>
            <a:endParaRPr sz="2642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26"/>
          <p:cNvSpPr txBox="1"/>
          <p:nvPr/>
        </p:nvSpPr>
        <p:spPr>
          <a:xfrm>
            <a:off x="1078202" y="2927724"/>
            <a:ext cx="7911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42">
                <a:latin typeface="Verdana"/>
                <a:ea typeface="Verdana"/>
                <a:cs typeface="Verdana"/>
                <a:sym typeface="Verdana"/>
              </a:rPr>
              <a:t>The Initialization Problem (K-Means++)</a:t>
            </a:r>
            <a:endParaRPr sz="2642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6" name="Google Shape;236;p26"/>
          <p:cNvSpPr txBox="1"/>
          <p:nvPr/>
        </p:nvSpPr>
        <p:spPr>
          <a:xfrm>
            <a:off x="9218275" y="3150038"/>
            <a:ext cx="8525400" cy="1512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2014" lvl="0" marL="48601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76"/>
              <a:buFont typeface="Poppins"/>
              <a:buChar char="❏"/>
            </a:pPr>
            <a:r>
              <a:rPr lang="en-US" sz="2976">
                <a:latin typeface="Poppins"/>
                <a:ea typeface="Poppins"/>
                <a:cs typeface="Poppins"/>
                <a:sym typeface="Poppins"/>
              </a:rPr>
              <a:t>Locates regions of high density.</a:t>
            </a:r>
            <a:endParaRPr sz="2976">
              <a:latin typeface="Poppins"/>
              <a:ea typeface="Poppins"/>
              <a:cs typeface="Poppins"/>
              <a:sym typeface="Poppins"/>
            </a:endParaRPr>
          </a:p>
          <a:p>
            <a:pPr indent="-432014" lvl="0" marL="48601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76"/>
              <a:buFont typeface="Poppins"/>
              <a:buChar char="❏"/>
            </a:pPr>
            <a:r>
              <a:rPr lang="en-US" sz="2976">
                <a:latin typeface="Poppins"/>
                <a:ea typeface="Poppins"/>
                <a:cs typeface="Poppins"/>
                <a:sym typeface="Poppins"/>
              </a:rPr>
              <a:t>Does not require specifying k a priori.</a:t>
            </a:r>
            <a:endParaRPr sz="2976">
              <a:latin typeface="Poppins"/>
              <a:ea typeface="Poppins"/>
              <a:cs typeface="Poppins"/>
              <a:sym typeface="Poppins"/>
            </a:endParaRPr>
          </a:p>
          <a:p>
            <a:pPr indent="-432014" lvl="0" marL="48601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76"/>
              <a:buFont typeface="Poppins"/>
              <a:buChar char="❏"/>
            </a:pPr>
            <a:r>
              <a:rPr lang="en-US" sz="2976">
                <a:latin typeface="Poppins"/>
                <a:ea typeface="Poppins"/>
                <a:cs typeface="Poppins"/>
                <a:sym typeface="Poppins"/>
              </a:rPr>
              <a:t>Can capture arbitrary shapes.</a:t>
            </a:r>
            <a:endParaRPr sz="2976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9218275" y="2195953"/>
            <a:ext cx="8911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76">
                <a:latin typeface="Verdana"/>
                <a:ea typeface="Verdana"/>
                <a:cs typeface="Verdana"/>
                <a:sym typeface="Verdana"/>
              </a:rPr>
              <a:t>Density-Based Clustering (DBSCAN)</a:t>
            </a:r>
            <a:endParaRPr sz="2976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8" name="Google Shape;238;p26"/>
          <p:cNvSpPr txBox="1"/>
          <p:nvPr/>
        </p:nvSpPr>
        <p:spPr>
          <a:xfrm>
            <a:off x="1078202" y="6817334"/>
            <a:ext cx="7080900" cy="1693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8807" lvl="0" marL="40365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2"/>
              <a:buFont typeface="Poppins"/>
              <a:buChar char="❏"/>
            </a:pPr>
            <a:r>
              <a:rPr lang="en-US" sz="2472">
                <a:latin typeface="Poppins"/>
                <a:ea typeface="Poppins"/>
                <a:cs typeface="Poppins"/>
                <a:sym typeface="Poppins"/>
              </a:rPr>
              <a:t>K-means fails on interlocking or half-moon shaped data.</a:t>
            </a:r>
            <a:endParaRPr sz="2472">
              <a:latin typeface="Poppins"/>
              <a:ea typeface="Poppins"/>
              <a:cs typeface="Poppins"/>
              <a:sym typeface="Poppins"/>
            </a:endParaRPr>
          </a:p>
          <a:p>
            <a:pPr indent="-358807" lvl="0" marL="40365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2"/>
              <a:buFont typeface="Poppins"/>
              <a:buChar char="❏"/>
            </a:pPr>
            <a:r>
              <a:rPr lang="en-US" sz="2472">
                <a:latin typeface="Poppins"/>
                <a:ea typeface="Poppins"/>
                <a:cs typeface="Poppins"/>
                <a:sym typeface="Poppins"/>
              </a:rPr>
              <a:t>Distance from centroid cannot capture curved density.</a:t>
            </a:r>
            <a:endParaRPr sz="2472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9" name="Google Shape;239;p26"/>
          <p:cNvSpPr txBox="1"/>
          <p:nvPr/>
        </p:nvSpPr>
        <p:spPr>
          <a:xfrm>
            <a:off x="1078202" y="6024915"/>
            <a:ext cx="7401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2">
                <a:latin typeface="Verdana"/>
                <a:ea typeface="Verdana"/>
                <a:cs typeface="Verdana"/>
                <a:sym typeface="Verdana"/>
              </a:rPr>
              <a:t>Failing on Non-Spherical Shapes</a:t>
            </a:r>
            <a:endParaRPr sz="2472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7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245" name="Google Shape;245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2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27"/>
          <p:cNvSpPr txBox="1"/>
          <p:nvPr/>
        </p:nvSpPr>
        <p:spPr>
          <a:xfrm>
            <a:off x="1512225" y="1022150"/>
            <a:ext cx="1321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 to Hierarchical Clustering</a:t>
            </a:r>
            <a:endParaRPr/>
          </a:p>
        </p:txBody>
      </p:sp>
      <p:grpSp>
        <p:nvGrpSpPr>
          <p:cNvPr id="248" name="Google Shape;248;p27"/>
          <p:cNvGrpSpPr/>
          <p:nvPr/>
        </p:nvGrpSpPr>
        <p:grpSpPr>
          <a:xfrm>
            <a:off x="1240816" y="3724887"/>
            <a:ext cx="7546951" cy="2672073"/>
            <a:chOff x="-1" y="-47623"/>
            <a:chExt cx="10062601" cy="3562764"/>
          </a:xfrm>
        </p:grpSpPr>
        <p:cxnSp>
          <p:nvCxnSpPr>
            <p:cNvPr id="249" name="Google Shape;249;p27"/>
            <p:cNvCxnSpPr/>
            <p:nvPr/>
          </p:nvCxnSpPr>
          <p:spPr>
            <a:xfrm>
              <a:off x="0" y="883466"/>
              <a:ext cx="96171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0" name="Google Shape;250;p27"/>
            <p:cNvSpPr txBox="1"/>
            <p:nvPr/>
          </p:nvSpPr>
          <p:spPr>
            <a:xfrm>
              <a:off x="0" y="1140641"/>
              <a:ext cx="10062600" cy="23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Starts with each point as its own individual cluster.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Iteratively merges the two closest clusters until only one massive cluster remains.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1" name="Google Shape;251;p27"/>
            <p:cNvSpPr txBox="1"/>
            <p:nvPr/>
          </p:nvSpPr>
          <p:spPr>
            <a:xfrm>
              <a:off x="-1" y="-47623"/>
              <a:ext cx="92520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99">
                  <a:latin typeface="Quattrocento Sans"/>
                  <a:ea typeface="Quattrocento Sans"/>
                  <a:cs typeface="Quattrocento Sans"/>
                  <a:sym typeface="Quattrocento Sans"/>
                </a:rPr>
                <a:t>Agglomerative (Bottom-Up) Clustering</a:t>
              </a:r>
              <a:endParaRPr b="1"/>
            </a:p>
          </p:txBody>
        </p:sp>
      </p:grpSp>
      <p:grpSp>
        <p:nvGrpSpPr>
          <p:cNvPr id="252" name="Google Shape;252;p27"/>
          <p:cNvGrpSpPr/>
          <p:nvPr/>
        </p:nvGrpSpPr>
        <p:grpSpPr>
          <a:xfrm>
            <a:off x="9497388" y="3724886"/>
            <a:ext cx="7546951" cy="2672074"/>
            <a:chOff x="-1" y="-47624"/>
            <a:chExt cx="10062601" cy="3562765"/>
          </a:xfrm>
        </p:grpSpPr>
        <p:cxnSp>
          <p:nvCxnSpPr>
            <p:cNvPr id="253" name="Google Shape;253;p27"/>
            <p:cNvCxnSpPr/>
            <p:nvPr/>
          </p:nvCxnSpPr>
          <p:spPr>
            <a:xfrm>
              <a:off x="0" y="883466"/>
              <a:ext cx="96171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4" name="Google Shape;254;p27"/>
            <p:cNvSpPr txBox="1"/>
            <p:nvPr/>
          </p:nvSpPr>
          <p:spPr>
            <a:xfrm>
              <a:off x="0" y="1140641"/>
              <a:ext cx="10062600" cy="23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How do we measure distance between groups of points?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Poppins"/>
                <a:buChar char="❏"/>
              </a:pPr>
              <a:r>
                <a:rPr lang="en-US" sz="2600">
                  <a:latin typeface="Poppins"/>
                  <a:ea typeface="Poppins"/>
                  <a:cs typeface="Poppins"/>
                  <a:sym typeface="Poppins"/>
                </a:rPr>
                <a:t>Single linkage, Complete linkage, Average linkage, Ward's linkage</a:t>
              </a:r>
              <a:endParaRPr sz="26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5" name="Google Shape;255;p27"/>
            <p:cNvSpPr txBox="1"/>
            <p:nvPr/>
          </p:nvSpPr>
          <p:spPr>
            <a:xfrm>
              <a:off x="-1" y="-47624"/>
              <a:ext cx="92520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99">
                  <a:latin typeface="Quattrocento Sans"/>
                  <a:ea typeface="Quattrocento Sans"/>
                  <a:cs typeface="Quattrocento Sans"/>
                  <a:sym typeface="Quattrocento Sans"/>
                </a:rPr>
                <a:t>Linkage Criteria</a:t>
              </a:r>
              <a:endParaRPr b="1"/>
            </a:p>
          </p:txBody>
        </p:sp>
      </p:grpSp>
      <p:sp>
        <p:nvSpPr>
          <p:cNvPr id="256" name="Google Shape;256;p27"/>
          <p:cNvSpPr txBox="1"/>
          <p:nvPr/>
        </p:nvSpPr>
        <p:spPr>
          <a:xfrm>
            <a:off x="1243650" y="2126850"/>
            <a:ext cx="15800700" cy="585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latin typeface="Poppins"/>
                <a:ea typeface="Poppins"/>
                <a:cs typeface="Poppins"/>
                <a:sym typeface="Poppins"/>
              </a:rPr>
              <a:t>Organizes clusters as a hierarchical tree. Does not require specifying k upfront.</a:t>
            </a:r>
            <a:endParaRPr i="1" sz="2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8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262" name="Google Shape;262;p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2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28"/>
          <p:cNvSpPr txBox="1"/>
          <p:nvPr/>
        </p:nvSpPr>
        <p:spPr>
          <a:xfrm>
            <a:off x="1423547" y="1022150"/>
            <a:ext cx="1461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Visualizing with Dendrograms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5" name="Google Shape;265;p28"/>
          <p:cNvSpPr txBox="1"/>
          <p:nvPr/>
        </p:nvSpPr>
        <p:spPr>
          <a:xfrm>
            <a:off x="1242300" y="2918000"/>
            <a:ext cx="6659400" cy="3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A tree-like diagram summarizing the merges.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Allows us to visually prune the tree to choose our clusters.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Dendrograms + Heatmaps: Provides a powerful summary of feature expressions within clusters.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6" name="Google Shape;266;p28" title="Screenshot 2026-04-28 at 6.43.3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1700" y="2893163"/>
            <a:ext cx="10081501" cy="4500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29"/>
          <p:cNvGrpSpPr/>
          <p:nvPr/>
        </p:nvGrpSpPr>
        <p:grpSpPr>
          <a:xfrm>
            <a:off x="816554" y="1179444"/>
            <a:ext cx="424292" cy="424292"/>
            <a:chOff x="0" y="0"/>
            <a:chExt cx="812800" cy="812800"/>
          </a:xfrm>
        </p:grpSpPr>
        <p:sp>
          <p:nvSpPr>
            <p:cNvPr id="272" name="Google Shape;272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2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p29"/>
          <p:cNvGrpSpPr/>
          <p:nvPr/>
        </p:nvGrpSpPr>
        <p:grpSpPr>
          <a:xfrm>
            <a:off x="1290517" y="2145400"/>
            <a:ext cx="10768733" cy="2739575"/>
            <a:chOff x="0" y="-47613"/>
            <a:chExt cx="14358311" cy="3652767"/>
          </a:xfrm>
        </p:grpSpPr>
        <p:cxnSp>
          <p:nvCxnSpPr>
            <p:cNvPr id="275" name="Google Shape;275;p29"/>
            <p:cNvCxnSpPr/>
            <p:nvPr/>
          </p:nvCxnSpPr>
          <p:spPr>
            <a:xfrm flipH="1" rot="10800000">
              <a:off x="0" y="832766"/>
              <a:ext cx="14346900" cy="507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6" name="Google Shape;276;p29"/>
            <p:cNvSpPr txBox="1"/>
            <p:nvPr/>
          </p:nvSpPr>
          <p:spPr>
            <a:xfrm>
              <a:off x="11" y="1140653"/>
              <a:ext cx="14358300" cy="24645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406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800"/>
                <a:buFont typeface="Poppins"/>
                <a:buChar char="❏"/>
              </a:pPr>
              <a:r>
                <a:rPr lang="en-US" sz="2800">
                  <a:latin typeface="Poppins"/>
                  <a:ea typeface="Poppins"/>
                  <a:cs typeface="Poppins"/>
                  <a:sym typeface="Poppins"/>
                </a:rPr>
                <a:t>High-dimensional data causes sparsity and distance breakdown.</a:t>
              </a:r>
              <a:endParaRPr sz="2800">
                <a:latin typeface="Poppins"/>
                <a:ea typeface="Poppins"/>
                <a:cs typeface="Poppins"/>
                <a:sym typeface="Poppins"/>
              </a:endParaRPr>
            </a:p>
            <a:p>
              <a:pPr indent="-406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800"/>
                <a:buFont typeface="Poppins"/>
                <a:buChar char="❏"/>
              </a:pPr>
              <a:r>
                <a:rPr lang="en-US" sz="2800">
                  <a:latin typeface="Poppins"/>
                  <a:ea typeface="Poppins"/>
                  <a:cs typeface="Poppins"/>
                  <a:sym typeface="Poppins"/>
                </a:rPr>
                <a:t>Requires massive storage and compute time.</a:t>
              </a:r>
              <a:endParaRPr sz="28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7" name="Google Shape;277;p29"/>
            <p:cNvSpPr txBox="1"/>
            <p:nvPr/>
          </p:nvSpPr>
          <p:spPr>
            <a:xfrm>
              <a:off x="9" y="-47613"/>
              <a:ext cx="121134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latin typeface="Quattrocento Sans"/>
                  <a:ea typeface="Quattrocento Sans"/>
                  <a:cs typeface="Quattrocento Sans"/>
                  <a:sym typeface="Quattrocento Sans"/>
                </a:rPr>
                <a:t>The Curse of Dimensionality Revisited</a:t>
              </a:r>
              <a:endParaRPr sz="3200"/>
            </a:p>
          </p:txBody>
        </p:sp>
      </p:grpSp>
      <p:grpSp>
        <p:nvGrpSpPr>
          <p:cNvPr id="278" name="Google Shape;278;p29"/>
          <p:cNvGrpSpPr/>
          <p:nvPr/>
        </p:nvGrpSpPr>
        <p:grpSpPr>
          <a:xfrm>
            <a:off x="13730009" y="-180826"/>
            <a:ext cx="4557991" cy="10467826"/>
            <a:chOff x="0" y="-47625"/>
            <a:chExt cx="1200458" cy="2756958"/>
          </a:xfrm>
        </p:grpSpPr>
        <p:sp>
          <p:nvSpPr>
            <p:cNvPr id="279" name="Google Shape;279;p29"/>
            <p:cNvSpPr/>
            <p:nvPr/>
          </p:nvSpPr>
          <p:spPr>
            <a:xfrm>
              <a:off x="0" y="0"/>
              <a:ext cx="1200458" cy="2709333"/>
            </a:xfrm>
            <a:custGeom>
              <a:rect b="b" l="l" r="r" t="t"/>
              <a:pathLst>
                <a:path extrusionOk="0" h="2709333" w="1200458">
                  <a:moveTo>
                    <a:pt x="0" y="0"/>
                  </a:moveTo>
                  <a:lnTo>
                    <a:pt x="1200458" y="0"/>
                  </a:lnTo>
                  <a:lnTo>
                    <a:pt x="12004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29"/>
            <p:cNvSpPr txBox="1"/>
            <p:nvPr/>
          </p:nvSpPr>
          <p:spPr>
            <a:xfrm>
              <a:off x="0" y="-47625"/>
              <a:ext cx="1200458" cy="2756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p29"/>
          <p:cNvGrpSpPr/>
          <p:nvPr/>
        </p:nvGrpSpPr>
        <p:grpSpPr>
          <a:xfrm>
            <a:off x="0" y="9245143"/>
            <a:ext cx="18288000" cy="1041857"/>
            <a:chOff x="0" y="-337542"/>
            <a:chExt cx="24384000" cy="1389143"/>
          </a:xfrm>
        </p:grpSpPr>
        <p:grpSp>
          <p:nvGrpSpPr>
            <p:cNvPr id="282" name="Google Shape;282;p29"/>
            <p:cNvGrpSpPr/>
            <p:nvPr/>
          </p:nvGrpSpPr>
          <p:grpSpPr>
            <a:xfrm>
              <a:off x="0" y="-337542"/>
              <a:ext cx="24384000" cy="1389143"/>
              <a:chOff x="0" y="-66675"/>
              <a:chExt cx="4816593" cy="274399"/>
            </a:xfrm>
          </p:grpSpPr>
          <p:sp>
            <p:nvSpPr>
              <p:cNvPr id="283" name="Google Shape;283;p29"/>
              <p:cNvSpPr/>
              <p:nvPr/>
            </p:nvSpPr>
            <p:spPr>
              <a:xfrm>
                <a:off x="0" y="0"/>
                <a:ext cx="4816592" cy="207724"/>
              </a:xfrm>
              <a:custGeom>
                <a:rect b="b" l="l" r="r" t="t"/>
                <a:pathLst>
                  <a:path extrusionOk="0" h="207724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07724"/>
                    </a:lnTo>
                    <a:lnTo>
                      <a:pt x="0" y="2077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29"/>
              <p:cNvSpPr txBox="1"/>
              <p:nvPr/>
            </p:nvSpPr>
            <p:spPr>
              <a:xfrm>
                <a:off x="0" y="-66675"/>
                <a:ext cx="4816593" cy="274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5" name="Google Shape;285;p29"/>
            <p:cNvSpPr/>
            <p:nvPr/>
          </p:nvSpPr>
          <p:spPr>
            <a:xfrm>
              <a:off x="1180370" y="103215"/>
              <a:ext cx="1857521" cy="845172"/>
            </a:xfrm>
            <a:custGeom>
              <a:rect b="b" l="l" r="r" t="t"/>
              <a:pathLst>
                <a:path extrusionOk="0" h="845172" w="1857521">
                  <a:moveTo>
                    <a:pt x="0" y="0"/>
                  </a:moveTo>
                  <a:lnTo>
                    <a:pt x="1857521" y="0"/>
                  </a:lnTo>
                  <a:lnTo>
                    <a:pt x="1857521" y="845172"/>
                  </a:lnTo>
                  <a:lnTo>
                    <a:pt x="0" y="8451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29"/>
            <p:cNvSpPr txBox="1"/>
            <p:nvPr/>
          </p:nvSpPr>
          <p:spPr>
            <a:xfrm>
              <a:off x="11929102" y="315127"/>
              <a:ext cx="2540331" cy="361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www.pau.edu.ng</a:t>
              </a:r>
              <a:endParaRPr/>
            </a:p>
          </p:txBody>
        </p:sp>
        <p:sp>
          <p:nvSpPr>
            <p:cNvPr id="287" name="Google Shape;287;p29"/>
            <p:cNvSpPr txBox="1"/>
            <p:nvPr/>
          </p:nvSpPr>
          <p:spPr>
            <a:xfrm>
              <a:off x="15881835" y="299139"/>
              <a:ext cx="1909630" cy="361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pau_Nigeria</a:t>
              </a:r>
              <a:endParaRPr/>
            </a:p>
          </p:txBody>
        </p:sp>
        <p:sp>
          <p:nvSpPr>
            <p:cNvPr descr="Symbol" id="288" name="Google Shape;288;p29"/>
            <p:cNvSpPr/>
            <p:nvPr/>
          </p:nvSpPr>
          <p:spPr>
            <a:xfrm>
              <a:off x="15330145" y="302077"/>
              <a:ext cx="447447" cy="447447"/>
            </a:xfrm>
            <a:custGeom>
              <a:rect b="b" l="l" r="r" t="t"/>
              <a:pathLst>
                <a:path extrusionOk="0" h="447447" w="447447">
                  <a:moveTo>
                    <a:pt x="0" y="0"/>
                  </a:moveTo>
                  <a:lnTo>
                    <a:pt x="447447" y="0"/>
                  </a:lnTo>
                  <a:lnTo>
                    <a:pt x="447447" y="447447"/>
                  </a:lnTo>
                  <a:lnTo>
                    <a:pt x="0" y="447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29"/>
            <p:cNvSpPr txBox="1"/>
            <p:nvPr/>
          </p:nvSpPr>
          <p:spPr>
            <a:xfrm>
              <a:off x="19555950" y="304468"/>
              <a:ext cx="3456450" cy="361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Pan-Atlantic University</a:t>
              </a:r>
              <a:endParaRPr/>
            </a:p>
          </p:txBody>
        </p:sp>
        <p:sp>
          <p:nvSpPr>
            <p:cNvPr descr="Symbol" id="290" name="Google Shape;290;p29"/>
            <p:cNvSpPr/>
            <p:nvPr/>
          </p:nvSpPr>
          <p:spPr>
            <a:xfrm>
              <a:off x="18242127" y="362752"/>
              <a:ext cx="398926" cy="336756"/>
            </a:xfrm>
            <a:custGeom>
              <a:rect b="b" l="l" r="r" t="t"/>
              <a:pathLst>
                <a:path extrusionOk="0" h="336756" w="398926">
                  <a:moveTo>
                    <a:pt x="0" y="0"/>
                  </a:moveTo>
                  <a:lnTo>
                    <a:pt x="398926" y="0"/>
                  </a:lnTo>
                  <a:lnTo>
                    <a:pt x="398926" y="336756"/>
                  </a:lnTo>
                  <a:lnTo>
                    <a:pt x="0" y="3367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X's logo" id="291" name="Google Shape;291;p29"/>
            <p:cNvSpPr/>
            <p:nvPr/>
          </p:nvSpPr>
          <p:spPr>
            <a:xfrm>
              <a:off x="18744753" y="395900"/>
              <a:ext cx="299310" cy="270460"/>
            </a:xfrm>
            <a:custGeom>
              <a:rect b="b" l="l" r="r" t="t"/>
              <a:pathLst>
                <a:path extrusionOk="0" h="270460" w="299310">
                  <a:moveTo>
                    <a:pt x="0" y="0"/>
                  </a:moveTo>
                  <a:lnTo>
                    <a:pt x="299310" y="0"/>
                  </a:lnTo>
                  <a:lnTo>
                    <a:pt x="299310" y="270460"/>
                  </a:lnTo>
                  <a:lnTo>
                    <a:pt x="0" y="2704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Symbol" id="292" name="Google Shape;292;p29"/>
            <p:cNvSpPr/>
            <p:nvPr/>
          </p:nvSpPr>
          <p:spPr>
            <a:xfrm>
              <a:off x="19147762" y="378886"/>
              <a:ext cx="304488" cy="304488"/>
            </a:xfrm>
            <a:custGeom>
              <a:rect b="b" l="l" r="r" t="t"/>
              <a:pathLst>
                <a:path extrusionOk="0" h="304488" w="304488">
                  <a:moveTo>
                    <a:pt x="0" y="0"/>
                  </a:moveTo>
                  <a:lnTo>
                    <a:pt x="304488" y="0"/>
                  </a:lnTo>
                  <a:lnTo>
                    <a:pt x="304488" y="304488"/>
                  </a:lnTo>
                  <a:lnTo>
                    <a:pt x="0" y="3044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29"/>
            <p:cNvSpPr txBox="1"/>
            <p:nvPr/>
          </p:nvSpPr>
          <p:spPr>
            <a:xfrm>
              <a:off x="3320091" y="326465"/>
              <a:ext cx="6843711" cy="361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Unlocking Potential. Building Responsible Leaders</a:t>
              </a:r>
              <a:endParaRPr/>
            </a:p>
          </p:txBody>
        </p:sp>
      </p:grpSp>
      <p:sp>
        <p:nvSpPr>
          <p:cNvPr id="294" name="Google Shape;294;p29"/>
          <p:cNvSpPr txBox="1"/>
          <p:nvPr/>
        </p:nvSpPr>
        <p:spPr>
          <a:xfrm>
            <a:off x="1623073" y="1022150"/>
            <a:ext cx="1176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Dimensionality Reduction &amp; PCA</a:t>
            </a: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1290500" y="6889025"/>
            <a:ext cx="10768800" cy="2095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Feature Selection: Keeping only the best original features, deleting the rest.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Feature Extraction: Projecting data into a completely new, compressed feature space.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6" name="Google Shape;296;p29"/>
          <p:cNvSpPr txBox="1"/>
          <p:nvPr/>
        </p:nvSpPr>
        <p:spPr>
          <a:xfrm>
            <a:off x="1290499" y="6138550"/>
            <a:ext cx="817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Feature Extraction vs. Feature Selection</a:t>
            </a:r>
            <a:endParaRPr sz="3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30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302" name="Google Shape;302;p3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30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30"/>
          <p:cNvGrpSpPr/>
          <p:nvPr/>
        </p:nvGrpSpPr>
        <p:grpSpPr>
          <a:xfrm>
            <a:off x="1290521" y="4176800"/>
            <a:ext cx="10890418" cy="2934875"/>
            <a:chOff x="0" y="-47613"/>
            <a:chExt cx="26286309" cy="3913167"/>
          </a:xfrm>
        </p:grpSpPr>
        <p:cxnSp>
          <p:nvCxnSpPr>
            <p:cNvPr id="305" name="Google Shape;305;p30"/>
            <p:cNvCxnSpPr/>
            <p:nvPr/>
          </p:nvCxnSpPr>
          <p:spPr>
            <a:xfrm flipH="1" rot="10800000">
              <a:off x="0" y="832766"/>
              <a:ext cx="14346900" cy="507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6" name="Google Shape;306;p30"/>
            <p:cNvSpPr txBox="1"/>
            <p:nvPr/>
          </p:nvSpPr>
          <p:spPr>
            <a:xfrm>
              <a:off x="9" y="1140653"/>
              <a:ext cx="26286300" cy="27249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406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800"/>
                <a:buFont typeface="Poppins"/>
                <a:buChar char="❏"/>
              </a:pPr>
              <a:r>
                <a:rPr lang="en-US" sz="2800">
                  <a:latin typeface="Poppins"/>
                  <a:ea typeface="Poppins"/>
                  <a:cs typeface="Poppins"/>
                  <a:sym typeface="Poppins"/>
                </a:rPr>
                <a:t>Projects data onto new, orthogonal axes (Principal Components).</a:t>
              </a:r>
              <a:endParaRPr sz="2800">
                <a:latin typeface="Poppins"/>
                <a:ea typeface="Poppins"/>
                <a:cs typeface="Poppins"/>
                <a:sym typeface="Poppins"/>
              </a:endParaRPr>
            </a:p>
            <a:p>
              <a:pPr indent="-406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800"/>
                <a:buFont typeface="Poppins"/>
                <a:buChar char="❏"/>
              </a:pPr>
              <a:r>
                <a:rPr lang="en-US" sz="2800">
                  <a:latin typeface="Poppins"/>
                  <a:ea typeface="Poppins"/>
                  <a:cs typeface="Poppins"/>
                  <a:sym typeface="Poppins"/>
                </a:rPr>
                <a:t>PC1 captures the most variance; PC2 captures the second most, etc..</a:t>
              </a:r>
              <a:endParaRPr sz="28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7" name="Google Shape;307;p30"/>
            <p:cNvSpPr txBox="1"/>
            <p:nvPr/>
          </p:nvSpPr>
          <p:spPr>
            <a:xfrm>
              <a:off x="9" y="-47613"/>
              <a:ext cx="121134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latin typeface="Quattrocento Sans"/>
                  <a:ea typeface="Quattrocento Sans"/>
                  <a:cs typeface="Quattrocento Sans"/>
                  <a:sym typeface="Quattrocento Sans"/>
                </a:rPr>
                <a:t>Geometric Intuition of PCA</a:t>
              </a:r>
              <a:endParaRPr sz="3200"/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13730009" y="-180827"/>
            <a:ext cx="4558558" cy="10468053"/>
            <a:chOff x="0" y="-47625"/>
            <a:chExt cx="1200600" cy="2757000"/>
          </a:xfrm>
        </p:grpSpPr>
        <p:sp>
          <p:nvSpPr>
            <p:cNvPr id="309" name="Google Shape;309;p30"/>
            <p:cNvSpPr/>
            <p:nvPr/>
          </p:nvSpPr>
          <p:spPr>
            <a:xfrm>
              <a:off x="0" y="0"/>
              <a:ext cx="1200458" cy="2709333"/>
            </a:xfrm>
            <a:custGeom>
              <a:rect b="b" l="l" r="r" t="t"/>
              <a:pathLst>
                <a:path extrusionOk="0" h="2709333" w="1200458">
                  <a:moveTo>
                    <a:pt x="0" y="0"/>
                  </a:moveTo>
                  <a:lnTo>
                    <a:pt x="1200458" y="0"/>
                  </a:lnTo>
                  <a:lnTo>
                    <a:pt x="12004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30"/>
            <p:cNvSpPr txBox="1"/>
            <p:nvPr/>
          </p:nvSpPr>
          <p:spPr>
            <a:xfrm>
              <a:off x="0" y="-47625"/>
              <a:ext cx="1200600" cy="27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30"/>
          <p:cNvGrpSpPr/>
          <p:nvPr/>
        </p:nvGrpSpPr>
        <p:grpSpPr>
          <a:xfrm>
            <a:off x="0" y="9245142"/>
            <a:ext cx="18287998" cy="1042242"/>
            <a:chOff x="0" y="-337542"/>
            <a:chExt cx="24383997" cy="1389656"/>
          </a:xfrm>
        </p:grpSpPr>
        <p:grpSp>
          <p:nvGrpSpPr>
            <p:cNvPr id="312" name="Google Shape;312;p30"/>
            <p:cNvGrpSpPr/>
            <p:nvPr/>
          </p:nvGrpSpPr>
          <p:grpSpPr>
            <a:xfrm>
              <a:off x="0" y="-337542"/>
              <a:ext cx="24383997" cy="1389656"/>
              <a:chOff x="0" y="-66675"/>
              <a:chExt cx="4816592" cy="274500"/>
            </a:xfrm>
          </p:grpSpPr>
          <p:sp>
            <p:nvSpPr>
              <p:cNvPr id="313" name="Google Shape;313;p30"/>
              <p:cNvSpPr/>
              <p:nvPr/>
            </p:nvSpPr>
            <p:spPr>
              <a:xfrm>
                <a:off x="0" y="0"/>
                <a:ext cx="4816592" cy="207724"/>
              </a:xfrm>
              <a:custGeom>
                <a:rect b="b" l="l" r="r" t="t"/>
                <a:pathLst>
                  <a:path extrusionOk="0" h="207724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07724"/>
                    </a:lnTo>
                    <a:lnTo>
                      <a:pt x="0" y="2077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30"/>
              <p:cNvSpPr txBox="1"/>
              <p:nvPr/>
            </p:nvSpPr>
            <p:spPr>
              <a:xfrm>
                <a:off x="0" y="-66675"/>
                <a:ext cx="4816500" cy="27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5" name="Google Shape;315;p30"/>
            <p:cNvSpPr/>
            <p:nvPr/>
          </p:nvSpPr>
          <p:spPr>
            <a:xfrm>
              <a:off x="1180370" y="103215"/>
              <a:ext cx="1857521" cy="845172"/>
            </a:xfrm>
            <a:custGeom>
              <a:rect b="b" l="l" r="r" t="t"/>
              <a:pathLst>
                <a:path extrusionOk="0" h="845172" w="1857521">
                  <a:moveTo>
                    <a:pt x="0" y="0"/>
                  </a:moveTo>
                  <a:lnTo>
                    <a:pt x="1857521" y="0"/>
                  </a:lnTo>
                  <a:lnTo>
                    <a:pt x="1857521" y="845172"/>
                  </a:lnTo>
                  <a:lnTo>
                    <a:pt x="0" y="8451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30"/>
            <p:cNvSpPr txBox="1"/>
            <p:nvPr/>
          </p:nvSpPr>
          <p:spPr>
            <a:xfrm>
              <a:off x="11929102" y="315127"/>
              <a:ext cx="25404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www.pau.edu.ng</a:t>
              </a:r>
              <a:endParaRPr/>
            </a:p>
          </p:txBody>
        </p:sp>
        <p:sp>
          <p:nvSpPr>
            <p:cNvPr id="317" name="Google Shape;317;p30"/>
            <p:cNvSpPr txBox="1"/>
            <p:nvPr/>
          </p:nvSpPr>
          <p:spPr>
            <a:xfrm>
              <a:off x="15881835" y="299139"/>
              <a:ext cx="19095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pau_Nigeria</a:t>
              </a:r>
              <a:endParaRPr/>
            </a:p>
          </p:txBody>
        </p:sp>
        <p:sp>
          <p:nvSpPr>
            <p:cNvPr descr="Symbol" id="318" name="Google Shape;318;p30"/>
            <p:cNvSpPr/>
            <p:nvPr/>
          </p:nvSpPr>
          <p:spPr>
            <a:xfrm>
              <a:off x="15330145" y="302077"/>
              <a:ext cx="447447" cy="447447"/>
            </a:xfrm>
            <a:custGeom>
              <a:rect b="b" l="l" r="r" t="t"/>
              <a:pathLst>
                <a:path extrusionOk="0" h="447447" w="447447">
                  <a:moveTo>
                    <a:pt x="0" y="0"/>
                  </a:moveTo>
                  <a:lnTo>
                    <a:pt x="447447" y="0"/>
                  </a:lnTo>
                  <a:lnTo>
                    <a:pt x="447447" y="447447"/>
                  </a:lnTo>
                  <a:lnTo>
                    <a:pt x="0" y="447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30"/>
            <p:cNvSpPr txBox="1"/>
            <p:nvPr/>
          </p:nvSpPr>
          <p:spPr>
            <a:xfrm>
              <a:off x="19555950" y="304468"/>
              <a:ext cx="3456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Pan-Atlantic University</a:t>
              </a:r>
              <a:endParaRPr/>
            </a:p>
          </p:txBody>
        </p:sp>
        <p:sp>
          <p:nvSpPr>
            <p:cNvPr descr="Symbol" id="320" name="Google Shape;320;p30"/>
            <p:cNvSpPr/>
            <p:nvPr/>
          </p:nvSpPr>
          <p:spPr>
            <a:xfrm>
              <a:off x="18242127" y="362752"/>
              <a:ext cx="398926" cy="336756"/>
            </a:xfrm>
            <a:custGeom>
              <a:rect b="b" l="l" r="r" t="t"/>
              <a:pathLst>
                <a:path extrusionOk="0" h="336756" w="398926">
                  <a:moveTo>
                    <a:pt x="0" y="0"/>
                  </a:moveTo>
                  <a:lnTo>
                    <a:pt x="398926" y="0"/>
                  </a:lnTo>
                  <a:lnTo>
                    <a:pt x="398926" y="336756"/>
                  </a:lnTo>
                  <a:lnTo>
                    <a:pt x="0" y="3367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X's logo" id="321" name="Google Shape;321;p30"/>
            <p:cNvSpPr/>
            <p:nvPr/>
          </p:nvSpPr>
          <p:spPr>
            <a:xfrm>
              <a:off x="18744753" y="395900"/>
              <a:ext cx="299310" cy="270460"/>
            </a:xfrm>
            <a:custGeom>
              <a:rect b="b" l="l" r="r" t="t"/>
              <a:pathLst>
                <a:path extrusionOk="0" h="270460" w="299310">
                  <a:moveTo>
                    <a:pt x="0" y="0"/>
                  </a:moveTo>
                  <a:lnTo>
                    <a:pt x="299310" y="0"/>
                  </a:lnTo>
                  <a:lnTo>
                    <a:pt x="299310" y="270460"/>
                  </a:lnTo>
                  <a:lnTo>
                    <a:pt x="0" y="2704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Symbol" id="322" name="Google Shape;322;p30"/>
            <p:cNvSpPr/>
            <p:nvPr/>
          </p:nvSpPr>
          <p:spPr>
            <a:xfrm>
              <a:off x="19147762" y="378886"/>
              <a:ext cx="304488" cy="304488"/>
            </a:xfrm>
            <a:custGeom>
              <a:rect b="b" l="l" r="r" t="t"/>
              <a:pathLst>
                <a:path extrusionOk="0" h="304488" w="304488">
                  <a:moveTo>
                    <a:pt x="0" y="0"/>
                  </a:moveTo>
                  <a:lnTo>
                    <a:pt x="304488" y="0"/>
                  </a:lnTo>
                  <a:lnTo>
                    <a:pt x="304488" y="304488"/>
                  </a:lnTo>
                  <a:lnTo>
                    <a:pt x="0" y="3044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30"/>
            <p:cNvSpPr txBox="1"/>
            <p:nvPr/>
          </p:nvSpPr>
          <p:spPr>
            <a:xfrm>
              <a:off x="3320091" y="326465"/>
              <a:ext cx="6843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Unlocking Potential. Building Responsible Leaders</a:t>
              </a:r>
              <a:endParaRPr/>
            </a:p>
          </p:txBody>
        </p:sp>
      </p:grpSp>
      <p:sp>
        <p:nvSpPr>
          <p:cNvPr id="324" name="Google Shape;324;p30"/>
          <p:cNvSpPr txBox="1"/>
          <p:nvPr/>
        </p:nvSpPr>
        <p:spPr>
          <a:xfrm>
            <a:off x="1623074" y="1022150"/>
            <a:ext cx="1044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Principal Component Analysis (PCA)</a:t>
            </a:r>
            <a:endParaRPr/>
          </a:p>
        </p:txBody>
      </p:sp>
      <p:sp>
        <p:nvSpPr>
          <p:cNvPr id="325" name="Google Shape;325;p30"/>
          <p:cNvSpPr txBox="1"/>
          <p:nvPr/>
        </p:nvSpPr>
        <p:spPr>
          <a:xfrm>
            <a:off x="1290525" y="2257775"/>
            <a:ext cx="122646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 unsupervised linear transformation technique. </a:t>
            </a:r>
            <a:endParaRPr i="1"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Goal</a:t>
            </a:r>
            <a:r>
              <a:rPr lang="en-US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Find the directions of maximum variance in high-dimensional data.</a:t>
            </a:r>
            <a:endParaRPr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6" name="Google Shape;326;p30"/>
          <p:cNvSpPr txBox="1"/>
          <p:nvPr/>
        </p:nvSpPr>
        <p:spPr>
          <a:xfrm>
            <a:off x="1240825" y="7392900"/>
            <a:ext cx="11998500" cy="20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AutoNum type="arabicPeriod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Standardize the dataset.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Construct the covariance matrix.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3. Decompose the matrix into eigenvectors and eigenvalues.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31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332" name="Google Shape;332;p3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31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p31"/>
          <p:cNvSpPr txBox="1"/>
          <p:nvPr/>
        </p:nvSpPr>
        <p:spPr>
          <a:xfrm>
            <a:off x="1423547" y="1022150"/>
            <a:ext cx="1423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Principal Component Analysis (PCA)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5" name="Google Shape;335;p31"/>
          <p:cNvSpPr txBox="1"/>
          <p:nvPr/>
        </p:nvSpPr>
        <p:spPr>
          <a:xfrm>
            <a:off x="1416737" y="2286075"/>
            <a:ext cx="6659400" cy="340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Eigenvectors and Eigenvalues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Eigenvectors: Define the direction of the new feature axes.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Eigenvalues: Define the magnitude (variance) along those axes.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6" name="Google Shape;336;p31"/>
          <p:cNvSpPr txBox="1"/>
          <p:nvPr/>
        </p:nvSpPr>
        <p:spPr>
          <a:xfrm>
            <a:off x="9006562" y="2286075"/>
            <a:ext cx="6659400" cy="290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Total and Explained Variance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Sort eigenvalues by decreasing order.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Select the top k eigenvectors to construct the projection matrix W.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7" name="Google Shape;337;p31"/>
          <p:cNvSpPr txBox="1"/>
          <p:nvPr/>
        </p:nvSpPr>
        <p:spPr>
          <a:xfrm>
            <a:off x="1416725" y="5998725"/>
            <a:ext cx="6659400" cy="340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PCA in Practice: Eigenfaces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Applying PCA to facial image datasets.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Images can be accurately reconstructed using just a fraction of the principal components.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8" name="Google Shape;338;p31"/>
          <p:cNvSpPr txBox="1"/>
          <p:nvPr/>
        </p:nvSpPr>
        <p:spPr>
          <a:xfrm>
            <a:off x="9006550" y="5750925"/>
            <a:ext cx="6659400" cy="3900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PCA vs. LDA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PCA: Unsupervised. Maximizes variance regardless of class labels.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LDA (Linear Discriminant Analysis): Supervised. Maximizes class separability.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32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344" name="Google Shape;344;p3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32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" name="Google Shape;346;p32"/>
          <p:cNvGrpSpPr/>
          <p:nvPr/>
        </p:nvGrpSpPr>
        <p:grpSpPr>
          <a:xfrm>
            <a:off x="15354897" y="-180825"/>
            <a:ext cx="2933666" cy="10468053"/>
            <a:chOff x="0" y="-47625"/>
            <a:chExt cx="1200600" cy="2757000"/>
          </a:xfrm>
        </p:grpSpPr>
        <p:sp>
          <p:nvSpPr>
            <p:cNvPr id="347" name="Google Shape;347;p32"/>
            <p:cNvSpPr/>
            <p:nvPr/>
          </p:nvSpPr>
          <p:spPr>
            <a:xfrm>
              <a:off x="0" y="0"/>
              <a:ext cx="1200458" cy="2709333"/>
            </a:xfrm>
            <a:custGeom>
              <a:rect b="b" l="l" r="r" t="t"/>
              <a:pathLst>
                <a:path extrusionOk="0" h="2709333" w="1200458">
                  <a:moveTo>
                    <a:pt x="0" y="0"/>
                  </a:moveTo>
                  <a:lnTo>
                    <a:pt x="1200458" y="0"/>
                  </a:lnTo>
                  <a:lnTo>
                    <a:pt x="12004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32"/>
            <p:cNvSpPr txBox="1"/>
            <p:nvPr/>
          </p:nvSpPr>
          <p:spPr>
            <a:xfrm>
              <a:off x="0" y="-47625"/>
              <a:ext cx="1200600" cy="27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9" name="Google Shape;349;p32"/>
          <p:cNvGrpSpPr/>
          <p:nvPr/>
        </p:nvGrpSpPr>
        <p:grpSpPr>
          <a:xfrm>
            <a:off x="0" y="9245142"/>
            <a:ext cx="18287998" cy="1042242"/>
            <a:chOff x="0" y="-337542"/>
            <a:chExt cx="24383997" cy="1389656"/>
          </a:xfrm>
        </p:grpSpPr>
        <p:grpSp>
          <p:nvGrpSpPr>
            <p:cNvPr id="350" name="Google Shape;350;p32"/>
            <p:cNvGrpSpPr/>
            <p:nvPr/>
          </p:nvGrpSpPr>
          <p:grpSpPr>
            <a:xfrm>
              <a:off x="0" y="-337542"/>
              <a:ext cx="24383997" cy="1389656"/>
              <a:chOff x="0" y="-66675"/>
              <a:chExt cx="4816592" cy="274500"/>
            </a:xfrm>
          </p:grpSpPr>
          <p:sp>
            <p:nvSpPr>
              <p:cNvPr id="351" name="Google Shape;351;p32"/>
              <p:cNvSpPr/>
              <p:nvPr/>
            </p:nvSpPr>
            <p:spPr>
              <a:xfrm>
                <a:off x="0" y="0"/>
                <a:ext cx="4816592" cy="207724"/>
              </a:xfrm>
              <a:custGeom>
                <a:rect b="b" l="l" r="r" t="t"/>
                <a:pathLst>
                  <a:path extrusionOk="0" h="207724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07724"/>
                    </a:lnTo>
                    <a:lnTo>
                      <a:pt x="0" y="2077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32"/>
              <p:cNvSpPr txBox="1"/>
              <p:nvPr/>
            </p:nvSpPr>
            <p:spPr>
              <a:xfrm>
                <a:off x="0" y="-66675"/>
                <a:ext cx="4816500" cy="27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3" name="Google Shape;353;p32"/>
            <p:cNvSpPr/>
            <p:nvPr/>
          </p:nvSpPr>
          <p:spPr>
            <a:xfrm>
              <a:off x="1180370" y="103215"/>
              <a:ext cx="1857521" cy="845172"/>
            </a:xfrm>
            <a:custGeom>
              <a:rect b="b" l="l" r="r" t="t"/>
              <a:pathLst>
                <a:path extrusionOk="0" h="845172" w="1857521">
                  <a:moveTo>
                    <a:pt x="0" y="0"/>
                  </a:moveTo>
                  <a:lnTo>
                    <a:pt x="1857521" y="0"/>
                  </a:lnTo>
                  <a:lnTo>
                    <a:pt x="1857521" y="845172"/>
                  </a:lnTo>
                  <a:lnTo>
                    <a:pt x="0" y="8451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32"/>
            <p:cNvSpPr txBox="1"/>
            <p:nvPr/>
          </p:nvSpPr>
          <p:spPr>
            <a:xfrm>
              <a:off x="11929102" y="315127"/>
              <a:ext cx="25404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www.pau.edu.ng</a:t>
              </a:r>
              <a:endParaRPr/>
            </a:p>
          </p:txBody>
        </p:sp>
        <p:sp>
          <p:nvSpPr>
            <p:cNvPr id="355" name="Google Shape;355;p32"/>
            <p:cNvSpPr txBox="1"/>
            <p:nvPr/>
          </p:nvSpPr>
          <p:spPr>
            <a:xfrm>
              <a:off x="15881835" y="299139"/>
              <a:ext cx="19095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pau_Nigeria</a:t>
              </a:r>
              <a:endParaRPr/>
            </a:p>
          </p:txBody>
        </p:sp>
        <p:sp>
          <p:nvSpPr>
            <p:cNvPr descr="Symbol" id="356" name="Google Shape;356;p32"/>
            <p:cNvSpPr/>
            <p:nvPr/>
          </p:nvSpPr>
          <p:spPr>
            <a:xfrm>
              <a:off x="15330145" y="302077"/>
              <a:ext cx="447447" cy="447447"/>
            </a:xfrm>
            <a:custGeom>
              <a:rect b="b" l="l" r="r" t="t"/>
              <a:pathLst>
                <a:path extrusionOk="0" h="447447" w="447447">
                  <a:moveTo>
                    <a:pt x="0" y="0"/>
                  </a:moveTo>
                  <a:lnTo>
                    <a:pt x="447447" y="0"/>
                  </a:lnTo>
                  <a:lnTo>
                    <a:pt x="447447" y="447447"/>
                  </a:lnTo>
                  <a:lnTo>
                    <a:pt x="0" y="447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32"/>
            <p:cNvSpPr txBox="1"/>
            <p:nvPr/>
          </p:nvSpPr>
          <p:spPr>
            <a:xfrm>
              <a:off x="19555950" y="304468"/>
              <a:ext cx="3456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Pan-Atlantic University</a:t>
              </a:r>
              <a:endParaRPr/>
            </a:p>
          </p:txBody>
        </p:sp>
        <p:sp>
          <p:nvSpPr>
            <p:cNvPr descr="Symbol" id="358" name="Google Shape;358;p32"/>
            <p:cNvSpPr/>
            <p:nvPr/>
          </p:nvSpPr>
          <p:spPr>
            <a:xfrm>
              <a:off x="18242127" y="362752"/>
              <a:ext cx="398926" cy="336756"/>
            </a:xfrm>
            <a:custGeom>
              <a:rect b="b" l="l" r="r" t="t"/>
              <a:pathLst>
                <a:path extrusionOk="0" h="336756" w="398926">
                  <a:moveTo>
                    <a:pt x="0" y="0"/>
                  </a:moveTo>
                  <a:lnTo>
                    <a:pt x="398926" y="0"/>
                  </a:lnTo>
                  <a:lnTo>
                    <a:pt x="398926" y="336756"/>
                  </a:lnTo>
                  <a:lnTo>
                    <a:pt x="0" y="3367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X's logo" id="359" name="Google Shape;359;p32"/>
            <p:cNvSpPr/>
            <p:nvPr/>
          </p:nvSpPr>
          <p:spPr>
            <a:xfrm>
              <a:off x="18744753" y="395900"/>
              <a:ext cx="299310" cy="270460"/>
            </a:xfrm>
            <a:custGeom>
              <a:rect b="b" l="l" r="r" t="t"/>
              <a:pathLst>
                <a:path extrusionOk="0" h="270460" w="299310">
                  <a:moveTo>
                    <a:pt x="0" y="0"/>
                  </a:moveTo>
                  <a:lnTo>
                    <a:pt x="299310" y="0"/>
                  </a:lnTo>
                  <a:lnTo>
                    <a:pt x="299310" y="270460"/>
                  </a:lnTo>
                  <a:lnTo>
                    <a:pt x="0" y="2704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Symbol" id="360" name="Google Shape;360;p32"/>
            <p:cNvSpPr/>
            <p:nvPr/>
          </p:nvSpPr>
          <p:spPr>
            <a:xfrm>
              <a:off x="19147762" y="378886"/>
              <a:ext cx="304488" cy="304488"/>
            </a:xfrm>
            <a:custGeom>
              <a:rect b="b" l="l" r="r" t="t"/>
              <a:pathLst>
                <a:path extrusionOk="0" h="304488" w="304488">
                  <a:moveTo>
                    <a:pt x="0" y="0"/>
                  </a:moveTo>
                  <a:lnTo>
                    <a:pt x="304488" y="0"/>
                  </a:lnTo>
                  <a:lnTo>
                    <a:pt x="304488" y="304488"/>
                  </a:lnTo>
                  <a:lnTo>
                    <a:pt x="0" y="3044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32"/>
            <p:cNvSpPr txBox="1"/>
            <p:nvPr/>
          </p:nvSpPr>
          <p:spPr>
            <a:xfrm>
              <a:off x="3320091" y="326465"/>
              <a:ext cx="68436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599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Unlocking Potential. Building Responsible Leaders</a:t>
              </a:r>
              <a:endParaRPr/>
            </a:p>
          </p:txBody>
        </p:sp>
      </p:grpSp>
      <p:sp>
        <p:nvSpPr>
          <p:cNvPr id="362" name="Google Shape;362;p32"/>
          <p:cNvSpPr txBox="1"/>
          <p:nvPr/>
        </p:nvSpPr>
        <p:spPr>
          <a:xfrm>
            <a:off x="1623072" y="1022150"/>
            <a:ext cx="1373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Selection &amp; Cross-Validation Strategies</a:t>
            </a:r>
            <a:endParaRPr/>
          </a:p>
        </p:txBody>
      </p:sp>
      <p:sp>
        <p:nvSpPr>
          <p:cNvPr id="363" name="Google Shape;363;p32"/>
          <p:cNvSpPr txBox="1"/>
          <p:nvPr/>
        </p:nvSpPr>
        <p:spPr>
          <a:xfrm>
            <a:off x="1240825" y="3068125"/>
            <a:ext cx="10768800" cy="1430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How do we know our model will perform well on unseen data? We must find an acceptable Bias-Variance tradeoff.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4" name="Google Shape;364;p32"/>
          <p:cNvSpPr txBox="1"/>
          <p:nvPr/>
        </p:nvSpPr>
        <p:spPr>
          <a:xfrm>
            <a:off x="1240837" y="2317650"/>
            <a:ext cx="817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Quattrocento Sans"/>
                <a:ea typeface="Quattrocento Sans"/>
                <a:cs typeface="Quattrocento Sans"/>
                <a:sym typeface="Quattrocento Sans"/>
              </a:rPr>
              <a:t>The Need for Model Selection</a:t>
            </a:r>
            <a:endParaRPr b="1" sz="3200"/>
          </a:p>
        </p:txBody>
      </p:sp>
      <p:sp>
        <p:nvSpPr>
          <p:cNvPr id="365" name="Google Shape;365;p32"/>
          <p:cNvSpPr txBox="1"/>
          <p:nvPr/>
        </p:nvSpPr>
        <p:spPr>
          <a:xfrm>
            <a:off x="1240825" y="5506600"/>
            <a:ext cx="6409500" cy="3313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The Holdout Method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Split the data into Training and Test datasets.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Train on the training set, evaluate on the test set.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33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371" name="Google Shape;371;p3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3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3" name="Google Shape;373;p33"/>
          <p:cNvSpPr txBox="1"/>
          <p:nvPr/>
        </p:nvSpPr>
        <p:spPr>
          <a:xfrm>
            <a:off x="1423547" y="1022150"/>
            <a:ext cx="1423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Selection &amp; Cross-Validation Strategies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4" name="Google Shape;374;p33"/>
          <p:cNvSpPr txBox="1"/>
          <p:nvPr/>
        </p:nvSpPr>
        <p:spPr>
          <a:xfrm>
            <a:off x="1416737" y="2286075"/>
            <a:ext cx="6659400" cy="340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The Trap of Reusing the Test Set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If we reuse the test set to tune hyperparameters, it becomes part of the training data.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Leads to massive overfitting and overly optimistic evaluations.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5" name="Google Shape;375;p33"/>
          <p:cNvSpPr txBox="1"/>
          <p:nvPr/>
        </p:nvSpPr>
        <p:spPr>
          <a:xfrm>
            <a:off x="9006562" y="2286075"/>
            <a:ext cx="6659400" cy="340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The Validation Split Solution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Split data into Train, Validation, and Test sets.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Tune parameters on the Validation set. Test only once at the end.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6" name="Google Shape;376;p33"/>
          <p:cNvSpPr txBox="1"/>
          <p:nvPr/>
        </p:nvSpPr>
        <p:spPr>
          <a:xfrm>
            <a:off x="1416725" y="6073025"/>
            <a:ext cx="6659400" cy="340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Limitations of Static Splits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A static split is highly sensitive to how the data was randomly divided.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Verdana"/>
              <a:buChar char="❏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Wastes valuable training data, especially on small datasets.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/>
        </p:nvSpPr>
        <p:spPr>
          <a:xfrm>
            <a:off x="9905400" y="3681900"/>
            <a:ext cx="8019900" cy="1917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A brute-force exhaustive search paradigm.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Evaluates the model for every possible combination of a predefined list of values.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82" name="Google Shape;382;p34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383" name="Google Shape;383;p3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34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5" name="Google Shape;385;p34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Grid Search vs. Random Search</a:t>
            </a:r>
            <a:endParaRPr/>
          </a:p>
        </p:txBody>
      </p:sp>
      <p:sp>
        <p:nvSpPr>
          <p:cNvPr id="386" name="Google Shape;386;p34"/>
          <p:cNvSpPr txBox="1"/>
          <p:nvPr/>
        </p:nvSpPr>
        <p:spPr>
          <a:xfrm>
            <a:off x="1423550" y="2784375"/>
            <a:ext cx="838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Parameters vs. Hyperparameters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7" name="Google Shape;387;p34"/>
          <p:cNvSpPr txBox="1"/>
          <p:nvPr/>
        </p:nvSpPr>
        <p:spPr>
          <a:xfrm>
            <a:off x="9905400" y="2784375"/>
            <a:ext cx="838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Grid Search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8" name="Google Shape;388;p34"/>
          <p:cNvSpPr txBox="1"/>
          <p:nvPr/>
        </p:nvSpPr>
        <p:spPr>
          <a:xfrm>
            <a:off x="816550" y="7373275"/>
            <a:ext cx="8019900" cy="1917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Draws random parameter combinations from specified sampling distributions.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More efficient than Grid Search for high-dimensional spaces.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9" name="Google Shape;389;p34"/>
          <p:cNvSpPr txBox="1"/>
          <p:nvPr/>
        </p:nvSpPr>
        <p:spPr>
          <a:xfrm>
            <a:off x="816550" y="6475750"/>
            <a:ext cx="838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Randomized Search CV</a:t>
            </a:r>
            <a:endParaRPr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0" name="Google Shape;390;p34"/>
          <p:cNvSpPr txBox="1"/>
          <p:nvPr/>
        </p:nvSpPr>
        <p:spPr>
          <a:xfrm>
            <a:off x="1330550" y="3760025"/>
            <a:ext cx="80199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Parameters: Learned from the data (e.g., regression weights).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Hyperparameters: Set manually before training (e.g., tree depth, regularization strength C).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1" name="Google Shape;391;p34"/>
          <p:cNvSpPr txBox="1"/>
          <p:nvPr/>
        </p:nvSpPr>
        <p:spPr>
          <a:xfrm>
            <a:off x="9905400" y="6353375"/>
            <a:ext cx="838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800">
                <a:latin typeface="Verdana"/>
                <a:ea typeface="Verdana"/>
                <a:cs typeface="Verdana"/>
                <a:sym typeface="Verdana"/>
              </a:rPr>
              <a:t>The Computational Cost of Grid Search</a:t>
            </a:r>
            <a:endParaRPr b="1" sz="2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2" name="Google Shape;392;p34"/>
          <p:cNvSpPr txBox="1"/>
          <p:nvPr/>
        </p:nvSpPr>
        <p:spPr>
          <a:xfrm>
            <a:off x="9987350" y="7124775"/>
            <a:ext cx="80199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Combinatorial explosion.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Tuning many parameters simultaneously takes massive compute time.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Google Shape;397;p35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398" name="Google Shape;398;p3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3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35"/>
          <p:cNvSpPr txBox="1"/>
          <p:nvPr/>
        </p:nvSpPr>
        <p:spPr>
          <a:xfrm>
            <a:off x="1423556" y="1022138"/>
            <a:ext cx="94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When Tuning is a Waste of Time</a:t>
            </a:r>
            <a:endParaRPr sz="4800">
              <a:solidFill>
                <a:srgbClr val="2E3A6E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1" name="Google Shape;401;p35"/>
          <p:cNvSpPr txBox="1"/>
          <p:nvPr/>
        </p:nvSpPr>
        <p:spPr>
          <a:xfrm>
            <a:off x="408275" y="2459025"/>
            <a:ext cx="5274600" cy="4919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Diagnosing Bias and Variance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We use learning curves and validation curves to diagnose models.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Plotting performance vs. sample size or parameter values.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2" name="Google Shape;402;p35"/>
          <p:cNvSpPr txBox="1"/>
          <p:nvPr/>
        </p:nvSpPr>
        <p:spPr>
          <a:xfrm>
            <a:off x="6411450" y="2492200"/>
            <a:ext cx="5465100" cy="5339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The High Bias Trap (Underfitting)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If a model is too simple (High Bias), tuning regularization won't save it.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Getting more data is also a waste of time.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Instead</a:t>
            </a: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: Choose a more complex model or engineer new features.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3" name="Google Shape;403;p35"/>
          <p:cNvSpPr txBox="1"/>
          <p:nvPr/>
        </p:nvSpPr>
        <p:spPr>
          <a:xfrm>
            <a:off x="12605125" y="2492200"/>
            <a:ext cx="5274600" cy="5967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The Data Quality Problem (Garbage In)</a:t>
            </a:r>
            <a:endParaRPr b="1"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Algorithms are limited by the information in the training data.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No Free Lunch Theorem: No algorithm is universally superior.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❏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If features are uninformative, tuning is useless.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6"/>
          <p:cNvSpPr txBox="1"/>
          <p:nvPr/>
        </p:nvSpPr>
        <p:spPr>
          <a:xfrm>
            <a:off x="1290517" y="2355856"/>
            <a:ext cx="159687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b="1" lang="en-US" sz="2800">
                <a:latin typeface="Poppins"/>
                <a:ea typeface="Poppins"/>
                <a:cs typeface="Poppins"/>
                <a:sym typeface="Poppins"/>
              </a:rPr>
              <a:t>Lab</a:t>
            </a: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: Structured hyperparameter experiments.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Implement GridSearchCV and RandomizedSearchCV.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Char char="➢"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Plot learning curves to diagnose bias/variance.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09" name="Google Shape;409;p36"/>
          <p:cNvGrpSpPr/>
          <p:nvPr/>
        </p:nvGrpSpPr>
        <p:grpSpPr>
          <a:xfrm>
            <a:off x="816554" y="1179444"/>
            <a:ext cx="424282" cy="424282"/>
            <a:chOff x="0" y="0"/>
            <a:chExt cx="812800" cy="812800"/>
          </a:xfrm>
        </p:grpSpPr>
        <p:sp>
          <p:nvSpPr>
            <p:cNvPr id="410" name="Google Shape;410;p3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3A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3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2" name="Google Shape;412;p36"/>
          <p:cNvSpPr txBox="1"/>
          <p:nvPr/>
        </p:nvSpPr>
        <p:spPr>
          <a:xfrm>
            <a:off x="1575692" y="1022138"/>
            <a:ext cx="549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E3A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 9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E3A6E"/>
            </a:gs>
            <a:gs pos="100000">
              <a:srgbClr val="262091"/>
            </a:gs>
          </a:gsLst>
          <a:lin ang="0" scaled="0"/>
        </a:gra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7"/>
          <p:cNvSpPr/>
          <p:nvPr/>
        </p:nvSpPr>
        <p:spPr>
          <a:xfrm>
            <a:off x="0" y="-2217254"/>
            <a:ext cx="18317150" cy="12502574"/>
          </a:xfrm>
          <a:custGeom>
            <a:rect b="b" l="l" r="r" t="t"/>
            <a:pathLst>
              <a:path extrusionOk="0" h="12502574" w="18317150">
                <a:moveTo>
                  <a:pt x="0" y="0"/>
                </a:moveTo>
                <a:lnTo>
                  <a:pt x="18317150" y="0"/>
                </a:lnTo>
                <a:lnTo>
                  <a:pt x="18317150" y="12502574"/>
                </a:lnTo>
                <a:lnTo>
                  <a:pt x="0" y="12502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"/>
            </a:blip>
            <a:stretch>
              <a:fillRect b="0" l="-1192" r="-119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7"/>
          <p:cNvSpPr/>
          <p:nvPr/>
        </p:nvSpPr>
        <p:spPr>
          <a:xfrm>
            <a:off x="14595563" y="1015051"/>
            <a:ext cx="2663737" cy="1152180"/>
          </a:xfrm>
          <a:custGeom>
            <a:rect b="b" l="l" r="r" t="t"/>
            <a:pathLst>
              <a:path extrusionOk="0" h="1152180" w="2663737">
                <a:moveTo>
                  <a:pt x="0" y="0"/>
                </a:moveTo>
                <a:lnTo>
                  <a:pt x="2663737" y="0"/>
                </a:lnTo>
                <a:lnTo>
                  <a:pt x="2663737" y="1152180"/>
                </a:lnTo>
                <a:lnTo>
                  <a:pt x="0" y="1152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900" l="0" r="0" t="-19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9" name="Google Shape;419;p37"/>
          <p:cNvGrpSpPr/>
          <p:nvPr/>
        </p:nvGrpSpPr>
        <p:grpSpPr>
          <a:xfrm>
            <a:off x="0" y="9005143"/>
            <a:ext cx="18288000" cy="1280177"/>
            <a:chOff x="0" y="-66675"/>
            <a:chExt cx="4816593" cy="337166"/>
          </a:xfrm>
        </p:grpSpPr>
        <p:sp>
          <p:nvSpPr>
            <p:cNvPr id="420" name="Google Shape;420;p37"/>
            <p:cNvSpPr/>
            <p:nvPr/>
          </p:nvSpPr>
          <p:spPr>
            <a:xfrm>
              <a:off x="0" y="0"/>
              <a:ext cx="4816592" cy="270491"/>
            </a:xfrm>
            <a:custGeom>
              <a:rect b="b" l="l" r="r" t="t"/>
              <a:pathLst>
                <a:path extrusionOk="0" h="27049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491"/>
                  </a:lnTo>
                  <a:lnTo>
                    <a:pt x="0" y="2704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37"/>
            <p:cNvSpPr txBox="1"/>
            <p:nvPr/>
          </p:nvSpPr>
          <p:spPr>
            <a:xfrm>
              <a:off x="0" y="-66675"/>
              <a:ext cx="4816593" cy="337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2" name="Google Shape;422;p37"/>
          <p:cNvSpPr/>
          <p:nvPr/>
        </p:nvSpPr>
        <p:spPr>
          <a:xfrm>
            <a:off x="762000" y="9416949"/>
            <a:ext cx="1559829" cy="709722"/>
          </a:xfrm>
          <a:custGeom>
            <a:rect b="b" l="l" r="r" t="t"/>
            <a:pathLst>
              <a:path extrusionOk="0" h="709722" w="1559829">
                <a:moveTo>
                  <a:pt x="0" y="0"/>
                </a:moveTo>
                <a:lnTo>
                  <a:pt x="1559829" y="0"/>
                </a:lnTo>
                <a:lnTo>
                  <a:pt x="1559829" y="709722"/>
                </a:lnTo>
                <a:lnTo>
                  <a:pt x="0" y="70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7"/>
          <p:cNvSpPr txBox="1"/>
          <p:nvPr/>
        </p:nvSpPr>
        <p:spPr>
          <a:xfrm>
            <a:off x="1842750" y="3574163"/>
            <a:ext cx="14631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/>
          </a:p>
        </p:txBody>
      </p:sp>
      <p:sp>
        <p:nvSpPr>
          <p:cNvPr id="424" name="Google Shape;424;p37"/>
          <p:cNvSpPr txBox="1"/>
          <p:nvPr/>
        </p:nvSpPr>
        <p:spPr>
          <a:xfrm>
            <a:off x="7883242" y="5217471"/>
            <a:ext cx="301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425" name="Google Shape;425;p37"/>
          <p:cNvSpPr txBox="1"/>
          <p:nvPr/>
        </p:nvSpPr>
        <p:spPr>
          <a:xfrm>
            <a:off x="2715171" y="9613897"/>
            <a:ext cx="1905248" cy="325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E3A6E"/>
                </a:solidFill>
                <a:latin typeface="Poppins"/>
                <a:ea typeface="Poppins"/>
                <a:cs typeface="Poppins"/>
                <a:sym typeface="Poppins"/>
              </a:rPr>
              <a:t>www.pau.edu.ng</a:t>
            </a:r>
            <a:endParaRPr/>
          </a:p>
        </p:txBody>
      </p:sp>
      <p:grpSp>
        <p:nvGrpSpPr>
          <p:cNvPr id="426" name="Google Shape;426;p37"/>
          <p:cNvGrpSpPr/>
          <p:nvPr/>
        </p:nvGrpSpPr>
        <p:grpSpPr>
          <a:xfrm>
            <a:off x="11497609" y="9594669"/>
            <a:ext cx="1845990" cy="344933"/>
            <a:chOff x="0" y="-12464"/>
            <a:chExt cx="2461320" cy="459911"/>
          </a:xfrm>
        </p:grpSpPr>
        <p:sp>
          <p:nvSpPr>
            <p:cNvPr id="427" name="Google Shape;427;p37"/>
            <p:cNvSpPr txBox="1"/>
            <p:nvPr/>
          </p:nvSpPr>
          <p:spPr>
            <a:xfrm>
              <a:off x="551690" y="-12464"/>
              <a:ext cx="1909630" cy="415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pau_Nigeria</a:t>
              </a:r>
              <a:endParaRPr/>
            </a:p>
          </p:txBody>
        </p:sp>
        <p:sp>
          <p:nvSpPr>
            <p:cNvPr descr="Symbol" id="428" name="Google Shape;428;p37"/>
            <p:cNvSpPr/>
            <p:nvPr/>
          </p:nvSpPr>
          <p:spPr>
            <a:xfrm>
              <a:off x="0" y="0"/>
              <a:ext cx="447447" cy="447447"/>
            </a:xfrm>
            <a:custGeom>
              <a:rect b="b" l="l" r="r" t="t"/>
              <a:pathLst>
                <a:path extrusionOk="0" h="447447" w="447447">
                  <a:moveTo>
                    <a:pt x="0" y="0"/>
                  </a:moveTo>
                  <a:lnTo>
                    <a:pt x="447447" y="0"/>
                  </a:lnTo>
                  <a:lnTo>
                    <a:pt x="447447" y="447447"/>
                  </a:lnTo>
                  <a:lnTo>
                    <a:pt x="0" y="4474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p37"/>
          <p:cNvGrpSpPr/>
          <p:nvPr/>
        </p:nvGrpSpPr>
        <p:grpSpPr>
          <a:xfrm>
            <a:off x="13681595" y="9594670"/>
            <a:ext cx="3577705" cy="311417"/>
            <a:chOff x="0" y="-57150"/>
            <a:chExt cx="4770273" cy="415224"/>
          </a:xfrm>
        </p:grpSpPr>
        <p:sp>
          <p:nvSpPr>
            <p:cNvPr id="430" name="Google Shape;430;p37"/>
            <p:cNvSpPr txBox="1"/>
            <p:nvPr/>
          </p:nvSpPr>
          <p:spPr>
            <a:xfrm>
              <a:off x="1313823" y="-57150"/>
              <a:ext cx="3456450" cy="415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E3A6E"/>
                  </a:solidFill>
                  <a:latin typeface="Poppins"/>
                  <a:ea typeface="Poppins"/>
                  <a:cs typeface="Poppins"/>
                  <a:sym typeface="Poppins"/>
                </a:rPr>
                <a:t>Pan-Atlantic University</a:t>
              </a:r>
              <a:endParaRPr/>
            </a:p>
          </p:txBody>
        </p:sp>
        <p:sp>
          <p:nvSpPr>
            <p:cNvPr descr="Symbol" id="431" name="Google Shape;431;p37"/>
            <p:cNvSpPr/>
            <p:nvPr/>
          </p:nvSpPr>
          <p:spPr>
            <a:xfrm>
              <a:off x="0" y="10659"/>
              <a:ext cx="398926" cy="336756"/>
            </a:xfrm>
            <a:custGeom>
              <a:rect b="b" l="l" r="r" t="t"/>
              <a:pathLst>
                <a:path extrusionOk="0" h="336756" w="398926">
                  <a:moveTo>
                    <a:pt x="0" y="0"/>
                  </a:moveTo>
                  <a:lnTo>
                    <a:pt x="398926" y="0"/>
                  </a:lnTo>
                  <a:lnTo>
                    <a:pt x="398926" y="336756"/>
                  </a:lnTo>
                  <a:lnTo>
                    <a:pt x="0" y="3367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X's logo" id="432" name="Google Shape;432;p37"/>
            <p:cNvSpPr/>
            <p:nvPr/>
          </p:nvSpPr>
          <p:spPr>
            <a:xfrm>
              <a:off x="502626" y="43807"/>
              <a:ext cx="299310" cy="270460"/>
            </a:xfrm>
            <a:custGeom>
              <a:rect b="b" l="l" r="r" t="t"/>
              <a:pathLst>
                <a:path extrusionOk="0" h="270460" w="299310">
                  <a:moveTo>
                    <a:pt x="0" y="0"/>
                  </a:moveTo>
                  <a:lnTo>
                    <a:pt x="299309" y="0"/>
                  </a:lnTo>
                  <a:lnTo>
                    <a:pt x="299309" y="270460"/>
                  </a:lnTo>
                  <a:lnTo>
                    <a:pt x="0" y="2704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Symbol" id="433" name="Google Shape;433;p37"/>
            <p:cNvSpPr/>
            <p:nvPr/>
          </p:nvSpPr>
          <p:spPr>
            <a:xfrm>
              <a:off x="905635" y="26793"/>
              <a:ext cx="304488" cy="304488"/>
            </a:xfrm>
            <a:custGeom>
              <a:rect b="b" l="l" r="r" t="t"/>
              <a:pathLst>
                <a:path extrusionOk="0" h="304488" w="304488">
                  <a:moveTo>
                    <a:pt x="0" y="0"/>
                  </a:moveTo>
                  <a:lnTo>
                    <a:pt x="304488" y="0"/>
                  </a:lnTo>
                  <a:lnTo>
                    <a:pt x="304488" y="304488"/>
                  </a:lnTo>
                  <a:lnTo>
                    <a:pt x="0" y="3044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