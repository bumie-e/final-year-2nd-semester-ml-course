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0287000" cx="18288000"/>
  <p:notesSz cx="6858000" cy="9144000"/>
  <p:embeddedFontLst>
    <p:embeddedFont>
      <p:font typeface="Poppins"/>
      <p:regular r:id="rId37"/>
      <p:bold r:id="rId38"/>
      <p:italic r:id="rId39"/>
      <p:boldItalic r:id="rId40"/>
    </p:embeddedFont>
    <p:embeddedFont>
      <p:font typeface="Quattrocento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42" Type="http://schemas.openxmlformats.org/officeDocument/2006/relationships/font" Target="fonts/QuattrocentoSans-bold.fntdata"/><Relationship Id="rId41" Type="http://schemas.openxmlformats.org/officeDocument/2006/relationships/font" Target="fonts/QuattrocentoSans-regular.fntdata"/><Relationship Id="rId22" Type="http://schemas.openxmlformats.org/officeDocument/2006/relationships/slide" Target="slides/slide17.xml"/><Relationship Id="rId44" Type="http://schemas.openxmlformats.org/officeDocument/2006/relationships/font" Target="fonts/Quattrocento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Quattrocento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italic.fntdata"/><Relationship Id="rId16" Type="http://schemas.openxmlformats.org/officeDocument/2006/relationships/slide" Target="slides/slide11.xml"/><Relationship Id="rId38" Type="http://schemas.openxmlformats.org/officeDocument/2006/relationships/font" Target="fonts/Poppi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364f6c28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364f6c28d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364f6c28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364f6c28d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364f6c28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364f6c28d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e1c7ee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9e1c7eea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c1bb977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c1bb9779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59bcde55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59bcde55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c1bb9779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c1bb97792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364f6c28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364f6c28d_0_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9e1c7eea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9e1c7eea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364f6c28d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364f6c28d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c1bb9779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dc1bb97792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59bcde5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d59bcde555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c1bb9779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c1bb97792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364f6c28d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d364f6c28d_0_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c1bb9779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dc1bb97792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9e1c7eea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d9e1c7eea8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82f6cfe8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82f6cfe89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c1bb9779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dc1bb97792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029ae1d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d029ae1de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c1bb97792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dc1bb97792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029ae1d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029ae1deb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c1bb97792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dc1bb97792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c1bb97792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dc1bb97792_0_3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59bcde55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d59bcde555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c1bb97792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dc1bb97792_0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c1bb97792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dc1bb97792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59bcde55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d59bcde55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d1b48d257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d1b48d2571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029ae1de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d029ae1deb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>
            <p:ph idx="2" type="media"/>
          </p:nvPr>
        </p:nvSpPr>
        <p:spPr>
          <a:xfrm>
            <a:off x="0" y="-23110"/>
            <a:ext cx="6324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3" type="pic"/>
          </p:nvPr>
        </p:nvSpPr>
        <p:spPr>
          <a:xfrm>
            <a:off x="11582400" y="3390900"/>
            <a:ext cx="6705600" cy="68961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4" type="pic"/>
          </p:nvPr>
        </p:nvSpPr>
        <p:spPr>
          <a:xfrm>
            <a:off x="7239000" y="952500"/>
            <a:ext cx="54864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5" type="pic"/>
          </p:nvPr>
        </p:nvSpPr>
        <p:spPr>
          <a:xfrm>
            <a:off x="1676400" y="7353300"/>
            <a:ext cx="3962400" cy="2024062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6" type="pic"/>
          </p:nvPr>
        </p:nvSpPr>
        <p:spPr>
          <a:xfrm>
            <a:off x="7239000" y="3924300"/>
            <a:ext cx="3276600" cy="2133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8"/>
          <p:cNvSpPr/>
          <p:nvPr>
            <p:ph idx="2" type="pic"/>
          </p:nvPr>
        </p:nvSpPr>
        <p:spPr>
          <a:xfrm>
            <a:off x="11430000" y="2552700"/>
            <a:ext cx="5181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3" type="pic"/>
          </p:nvPr>
        </p:nvSpPr>
        <p:spPr>
          <a:xfrm>
            <a:off x="1752600" y="2324100"/>
            <a:ext cx="4267200" cy="312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9262631"/>
            <a:ext cx="18288000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6096000" y="2024700"/>
            <a:ext cx="5970665" cy="7233600"/>
          </a:xfrm>
          <a:custGeom>
            <a:rect b="b" l="l" r="r" t="t"/>
            <a:pathLst>
              <a:path extrusionOk="0" h="7233600" w="5970665">
                <a:moveTo>
                  <a:pt x="0" y="0"/>
                </a:moveTo>
                <a:lnTo>
                  <a:pt x="5970665" y="0"/>
                </a:lnTo>
                <a:lnTo>
                  <a:pt x="5970665" y="7233600"/>
                </a:lnTo>
                <a:lnTo>
                  <a:pt x="0" y="7233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"/>
            </a:blip>
            <a:stretch>
              <a:fillRect b="0" l="0" r="-1662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3A6E"/>
            </a:gs>
            <a:gs pos="100000">
              <a:srgbClr val="262091"/>
            </a:gs>
          </a:gsLst>
          <a:lin ang="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8317150" cy="10285320"/>
          </a:xfrm>
          <a:custGeom>
            <a:rect b="b" l="l" r="r" t="t"/>
            <a:pathLst>
              <a:path extrusionOk="0" h="12502574" w="18317150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0" l="-1192" r="-11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4595563" y="1015051"/>
            <a:ext cx="2663737" cy="1152180"/>
          </a:xfrm>
          <a:custGeom>
            <a:rect b="b" l="l" r="r" t="t"/>
            <a:pathLst>
              <a:path extrusionOk="0" h="1152180" w="2663737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0" l="0" r="0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675026" y="3595981"/>
            <a:ext cx="1463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CSC 411 ML Lecture 10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53815" y="7633544"/>
            <a:ext cx="50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Bunmi Akinremi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53815" y="8114214"/>
            <a:ext cx="50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Engineer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4595586" y="7633544"/>
            <a:ext cx="30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5th May 2026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404143" y="8114214"/>
            <a:ext cx="41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SST Lab 2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43400" y="5282924"/>
            <a:ext cx="93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Reinforcement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1290517" y="2184406"/>
            <a:ext cx="159687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Markov Decision Processes (MDPs), 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 Function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Policy Function.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Q-Learning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290517" y="933450"/>
            <a:ext cx="441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Brief Overview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Recap of The ML Workflow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442925" y="2508250"/>
            <a:ext cx="5769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Problem Formulation</a:t>
            </a:r>
            <a:endParaRPr sz="2057"/>
          </a:p>
        </p:txBody>
      </p:sp>
      <p:sp>
        <p:nvSpPr>
          <p:cNvPr id="111" name="Google Shape;111;p15"/>
          <p:cNvSpPr txBox="1"/>
          <p:nvPr/>
        </p:nvSpPr>
        <p:spPr>
          <a:xfrm>
            <a:off x="2190060" y="3051805"/>
            <a:ext cx="5592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Gather and organize data</a:t>
            </a:r>
            <a:endParaRPr sz="205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725456" y="3595342"/>
            <a:ext cx="5924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Preprocessing, cleaning, and visualizing</a:t>
            </a:r>
            <a:endParaRPr sz="2057"/>
          </a:p>
        </p:txBody>
      </p:sp>
      <p:sp>
        <p:nvSpPr>
          <p:cNvPr id="113" name="Google Shape;113;p15"/>
          <p:cNvSpPr txBox="1"/>
          <p:nvPr/>
        </p:nvSpPr>
        <p:spPr>
          <a:xfrm>
            <a:off x="3319095" y="4258418"/>
            <a:ext cx="628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Choose a model and optimize</a:t>
            </a:r>
            <a:endParaRPr sz="2057"/>
          </a:p>
        </p:txBody>
      </p:sp>
      <p:sp>
        <p:nvSpPr>
          <p:cNvPr id="114" name="Google Shape;114;p15"/>
          <p:cNvSpPr txBox="1"/>
          <p:nvPr/>
        </p:nvSpPr>
        <p:spPr>
          <a:xfrm>
            <a:off x="3853523" y="4921493"/>
            <a:ext cx="628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Training: Fit a new model on the training set.</a:t>
            </a:r>
            <a:endParaRPr sz="2057"/>
          </a:p>
        </p:txBody>
      </p:sp>
      <p:sp>
        <p:nvSpPr>
          <p:cNvPr id="115" name="Google Shape;115;p15"/>
          <p:cNvSpPr txBox="1"/>
          <p:nvPr/>
        </p:nvSpPr>
        <p:spPr>
          <a:xfrm>
            <a:off x="4372636" y="5584569"/>
            <a:ext cx="628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8"/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Linear Models &amp; Regularization</a:t>
            </a:r>
            <a:endParaRPr sz="205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372636" y="6247645"/>
            <a:ext cx="628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8"/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Non-Parametric Models &amp; Ensembles</a:t>
            </a:r>
            <a:endParaRPr sz="205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3853530" y="8862020"/>
            <a:ext cx="865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4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Model Selection and Tuning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380929" y="6834196"/>
            <a:ext cx="628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8"/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Support Vector Machines</a:t>
            </a:r>
            <a:endParaRPr sz="205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062874" y="7420761"/>
            <a:ext cx="6908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8"/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Unsupervised Learning</a:t>
            </a:r>
            <a:endParaRPr sz="205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65830" y="8388379"/>
            <a:ext cx="6908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8"/>
              <a:buNone/>
            </a:pPr>
            <a:r>
              <a:rPr lang="en-US" sz="2057">
                <a:latin typeface="Poppins"/>
                <a:ea typeface="Poppins"/>
                <a:cs typeface="Poppins"/>
                <a:sym typeface="Poppins"/>
              </a:rPr>
              <a:t>Model Selection, Evaluation, and Learning Theory</a:t>
            </a:r>
            <a:endParaRPr sz="205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071174" y="7863071"/>
            <a:ext cx="6908700" cy="3693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8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Reinforcement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Learning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6"/>
          <p:cNvSpPr txBox="1"/>
          <p:nvPr/>
        </p:nvSpPr>
        <p:spPr>
          <a:xfrm>
            <a:off x="1423532" y="1022150"/>
            <a:ext cx="1439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Three Pillars of Machine Learning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4725" y="3182100"/>
            <a:ext cx="5427300" cy="3922800"/>
          </a:xfrm>
          <a:prstGeom prst="rect">
            <a:avLst/>
          </a:prstGeom>
          <a:solidFill>
            <a:srgbClr val="F8FAFC"/>
          </a:solidFill>
          <a:ln cap="flat" cmpd="sng" w="251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0758" rotWithShape="0" algn="bl" dir="8100000" dist="50253">
              <a:srgbClr val="000000">
                <a:alpha val="5880"/>
              </a:srgbClr>
            </a:outerShdw>
          </a:effectLst>
        </p:spPr>
        <p:txBody>
          <a:bodyPr anchorCtr="0" anchor="ctr" bIns="135675" lIns="135675" spcFirstLastPara="1" rIns="135675" wrap="square" tIns="13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7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56089" y="3453472"/>
            <a:ext cx="678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968"/>
              <a:buFont typeface="Calibri"/>
              <a:buNone/>
            </a:pPr>
            <a:r>
              <a:rPr i="0" lang="en-US" sz="2968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i="0" sz="296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56089" y="4199724"/>
            <a:ext cx="48846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74"/>
              <a:buFont typeface="Calibri"/>
              <a:buNone/>
            </a:pPr>
            <a:r>
              <a:rPr i="0" lang="en-US" sz="277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Supervised</a:t>
            </a:r>
            <a:endParaRPr i="0" sz="27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74"/>
              <a:buFont typeface="Calibri"/>
              <a:buNone/>
            </a:pPr>
            <a:r>
              <a:rPr i="0" lang="en-US" sz="277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Learning</a:t>
            </a:r>
            <a:endParaRPr i="0" sz="27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56089" y="5488706"/>
            <a:ext cx="48846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8"/>
              <a:buFont typeface="Calibri"/>
              <a:buNone/>
            </a:pPr>
            <a:r>
              <a:rPr i="0" lang="en-US" sz="237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Learns from labeled</a:t>
            </a:r>
            <a:endParaRPr i="0" sz="237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8"/>
              <a:buFont typeface="Calibri"/>
              <a:buNone/>
            </a:pPr>
            <a:r>
              <a:rPr i="0" lang="en-US" sz="237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examples</a:t>
            </a:r>
            <a:endParaRPr i="0" sz="237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419076" y="3182100"/>
            <a:ext cx="5427300" cy="3922800"/>
          </a:xfrm>
          <a:prstGeom prst="rect">
            <a:avLst/>
          </a:prstGeom>
          <a:solidFill>
            <a:srgbClr val="F8FAFC"/>
          </a:solidFill>
          <a:ln cap="flat" cmpd="sng" w="251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0758" rotWithShape="0" algn="bl" dir="8100000" dist="50253">
              <a:srgbClr val="000000">
                <a:alpha val="5880"/>
              </a:srgbClr>
            </a:outerShdw>
          </a:effectLst>
        </p:spPr>
        <p:txBody>
          <a:bodyPr anchorCtr="0" anchor="ctr" bIns="135675" lIns="135675" spcFirstLastPara="1" rIns="135675" wrap="square" tIns="13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7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690420" y="3453472"/>
            <a:ext cx="678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968"/>
              <a:buFont typeface="Calibri"/>
              <a:buNone/>
            </a:pPr>
            <a:r>
              <a:rPr i="0" lang="en-US" sz="2968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✗</a:t>
            </a:r>
            <a:endParaRPr i="0" sz="296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690420" y="4199724"/>
            <a:ext cx="48846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74"/>
              <a:buFont typeface="Calibri"/>
              <a:buNone/>
            </a:pPr>
            <a:r>
              <a:rPr i="0" lang="en-US" sz="277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Unsupervised</a:t>
            </a:r>
            <a:endParaRPr i="0" sz="27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374"/>
              <a:buFont typeface="Calibri"/>
              <a:buNone/>
            </a:pPr>
            <a:r>
              <a:rPr i="0" lang="en-US" sz="277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Learning</a:t>
            </a:r>
            <a:endParaRPr i="0" sz="27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690420" y="5488706"/>
            <a:ext cx="48846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8"/>
              <a:buFont typeface="Calibri"/>
              <a:buNone/>
            </a:pPr>
            <a:r>
              <a:rPr i="0" lang="en-US" sz="237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Finds structure in</a:t>
            </a:r>
            <a:endParaRPr i="0" sz="237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8"/>
              <a:buFont typeface="Calibri"/>
              <a:buNone/>
            </a:pPr>
            <a:r>
              <a:rPr i="0" lang="en-US" sz="237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unlabeled data</a:t>
            </a:r>
            <a:endParaRPr i="0" sz="237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2275981" y="3182100"/>
            <a:ext cx="5427300" cy="3922800"/>
          </a:xfrm>
          <a:prstGeom prst="rect">
            <a:avLst/>
          </a:prstGeom>
          <a:solidFill>
            <a:srgbClr val="EFF6FF"/>
          </a:solidFill>
          <a:ln cap="flat" cmpd="sng" w="251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0758" rotWithShape="0" algn="bl" dir="8100000" dist="50253">
              <a:srgbClr val="000000">
                <a:alpha val="5880"/>
              </a:srgbClr>
            </a:outerShdw>
          </a:effectLst>
        </p:spPr>
        <p:txBody>
          <a:bodyPr anchorCtr="0" anchor="ctr" bIns="135675" lIns="135675" spcFirstLastPara="1" rIns="135675" wrap="square" tIns="13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7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2253437" y="3182107"/>
            <a:ext cx="5427300" cy="94800"/>
          </a:xfrm>
          <a:prstGeom prst="rect">
            <a:avLst/>
          </a:prstGeom>
          <a:solidFill>
            <a:srgbClr val="2563EB"/>
          </a:solidFill>
          <a:ln cap="flat" cmpd="sng" w="251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675" lIns="135675" spcFirstLastPara="1" rIns="135675" wrap="square" tIns="13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7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12547355" y="3453472"/>
            <a:ext cx="678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968"/>
              <a:buFont typeface="Calibri"/>
              <a:buNone/>
            </a:pPr>
            <a:r>
              <a:rPr i="0" lang="en-US" sz="2968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endParaRPr i="0" sz="2968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2547355" y="4199724"/>
            <a:ext cx="48846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374"/>
              <a:buFont typeface="Calibri"/>
              <a:buNone/>
            </a:pPr>
            <a:r>
              <a:rPr i="0" lang="en-US" sz="277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Reinforcement</a:t>
            </a:r>
            <a:endParaRPr i="0" sz="27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374"/>
              <a:buFont typeface="Calibri"/>
              <a:buNone/>
            </a:pPr>
            <a:r>
              <a:rPr i="0" lang="en-US" sz="277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Learning</a:t>
            </a:r>
            <a:endParaRPr i="0" sz="27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2547355" y="5488706"/>
            <a:ext cx="48846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8"/>
              <a:buFont typeface="Calibri"/>
              <a:buNone/>
            </a:pPr>
            <a:r>
              <a:rPr i="0" lang="en-US" sz="237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Learns from interaction</a:t>
            </a:r>
            <a:endParaRPr i="0" sz="237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78"/>
              <a:buFont typeface="Calibri"/>
              <a:buNone/>
            </a:pPr>
            <a:r>
              <a:rPr i="0" lang="en-US" sz="237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&amp; reward signals</a:t>
            </a:r>
            <a:endParaRPr i="0" sz="237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/>
        </p:nvSpPr>
        <p:spPr>
          <a:xfrm>
            <a:off x="1423550" y="2629107"/>
            <a:ext cx="7617000" cy="39003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core of RL is learning by interaction.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Correct labels for the best actions are not known upfront.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system must discover which actions yield the most reward by trying them.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8" name="Google Shape;148;p1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49" name="Google Shape;14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1423546" y="1022150"/>
            <a:ext cx="154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Learning by Interaction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1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57" name="Google Shape;157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8"/>
          <p:cNvSpPr txBox="1"/>
          <p:nvPr/>
        </p:nvSpPr>
        <p:spPr>
          <a:xfrm>
            <a:off x="1423546" y="1022150"/>
            <a:ext cx="154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in the Real World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495063" y="2613801"/>
            <a:ext cx="4738200" cy="3384600"/>
          </a:xfrm>
          <a:prstGeom prst="rect">
            <a:avLst/>
          </a:prstGeom>
          <a:solidFill>
            <a:srgbClr val="EFF6FF"/>
          </a:solidFill>
          <a:ln cap="flat" cmpd="sng" w="2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0422" rotWithShape="0" algn="bl" dir="8100000" dist="50141">
              <a:srgbClr val="000000">
                <a:alpha val="5880"/>
              </a:srgbClr>
            </a:outerShdw>
          </a:effectLst>
        </p:spPr>
        <p:txBody>
          <a:bodyPr anchorCtr="0" anchor="ctr" bIns="135350" lIns="135350" spcFirstLastPara="1" rIns="135350" wrap="square" tIns="13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495063" y="2952250"/>
            <a:ext cx="47382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356"/>
              <a:buFont typeface="Calibri"/>
              <a:buNone/>
            </a:pPr>
            <a:r>
              <a:rPr i="0" lang="en-US" sz="3356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AGENT</a:t>
            </a:r>
            <a:endParaRPr i="0" sz="335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630443" y="3967599"/>
            <a:ext cx="446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71"/>
              <a:buFont typeface="Calibri"/>
              <a:buNone/>
            </a:pPr>
            <a:r>
              <a:rPr i="1" lang="en-US" sz="2369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Policy π(a|s)</a:t>
            </a:r>
            <a:endParaRPr i="0" sz="236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1630443" y="4644497"/>
            <a:ext cx="44679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77"/>
              <a:buFont typeface="Calibri"/>
              <a:buNone/>
            </a:pPr>
            <a:r>
              <a:rPr i="0" lang="en-US" sz="2171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Brain / Decision Maker</a:t>
            </a:r>
            <a:endParaRPr i="0" sz="21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2054727" y="2613801"/>
            <a:ext cx="4738200" cy="3384600"/>
          </a:xfrm>
          <a:prstGeom prst="rect">
            <a:avLst/>
          </a:prstGeom>
          <a:solidFill>
            <a:srgbClr val="EFF6FF"/>
          </a:solidFill>
          <a:ln cap="flat" cmpd="sng" w="2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50422" rotWithShape="0" algn="bl" dir="8100000" dist="50141">
              <a:srgbClr val="000000">
                <a:alpha val="5880"/>
              </a:srgbClr>
            </a:outerShdw>
          </a:effectLst>
        </p:spPr>
        <p:txBody>
          <a:bodyPr anchorCtr="0" anchor="ctr" bIns="135350" lIns="135350" spcFirstLastPara="1" rIns="135350" wrap="square" tIns="13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2054727" y="2952250"/>
            <a:ext cx="47382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764"/>
              <a:buFont typeface="Calibri"/>
              <a:buNone/>
            </a:pPr>
            <a:r>
              <a:rPr i="0" lang="en-US" sz="2764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ENVIRONMENT</a:t>
            </a:r>
            <a:endParaRPr i="0" sz="2764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2190107" y="3967599"/>
            <a:ext cx="446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74"/>
              <a:buFont typeface="Calibri"/>
              <a:buNone/>
            </a:pPr>
            <a:r>
              <a:rPr i="1" lang="en-US" sz="2369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Transition P(s'|s,a)</a:t>
            </a:r>
            <a:endParaRPr i="0" sz="236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2190107" y="4644497"/>
            <a:ext cx="44679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77"/>
              <a:buFont typeface="Calibri"/>
              <a:buNone/>
            </a:pPr>
            <a:r>
              <a:rPr i="0" lang="en-US" sz="2171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World / Simulator</a:t>
            </a:r>
            <a:endParaRPr i="0" sz="21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368754" y="3155320"/>
            <a:ext cx="5550900" cy="94800"/>
          </a:xfrm>
          <a:prstGeom prst="rect">
            <a:avLst/>
          </a:prstGeom>
          <a:solidFill>
            <a:srgbClr val="2563EB"/>
          </a:solidFill>
          <a:ln cap="flat" cmpd="sng" w="250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350" lIns="135350" spcFirstLastPara="1" rIns="135350" wrap="square" tIns="13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181036" y="2681491"/>
            <a:ext cx="40614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171"/>
              <a:buFont typeface="Calibri"/>
              <a:buNone/>
            </a:pPr>
            <a:r>
              <a:rPr i="0" lang="en-US" sz="2171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Action  aₜ</a:t>
            </a:r>
            <a:endParaRPr i="0" sz="21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368754" y="5456776"/>
            <a:ext cx="5550900" cy="94800"/>
          </a:xfrm>
          <a:prstGeom prst="rect">
            <a:avLst/>
          </a:prstGeom>
          <a:solidFill>
            <a:srgbClr val="0EA5E9"/>
          </a:solidFill>
          <a:ln cap="flat" cmpd="sng" w="2507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350" lIns="135350" spcFirstLastPara="1" rIns="135350" wrap="square" tIns="13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962613" y="5659846"/>
            <a:ext cx="63627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974"/>
              <a:buFont typeface="Calibri"/>
              <a:buNone/>
            </a:pPr>
            <a:r>
              <a:rPr i="0" lang="en-US" sz="2171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State  sₜ₊₁  +  Reward  rₜ₊₁</a:t>
            </a:r>
            <a:endParaRPr i="0" sz="21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014940" y="7284403"/>
            <a:ext cx="90516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566"/>
              <a:buFont typeface="Calibri"/>
              <a:buNone/>
            </a:pPr>
            <a:r>
              <a:rPr i="1" lang="en-US" sz="2566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Goal: Find policy π* that maximises  E[∑ γᵗ rₜ]</a:t>
            </a:r>
            <a:endParaRPr i="0" sz="2566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1423550" y="2569600"/>
            <a:ext cx="7206900" cy="4396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Reward Signal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scalar value R t ∈R received at each time step.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agent's sole objective is to maximize the total accumulated reward.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Provides feedback on success or failure.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8" name="Google Shape;178;p1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9"/>
          <p:cNvSpPr txBox="1"/>
          <p:nvPr/>
        </p:nvSpPr>
        <p:spPr>
          <a:xfrm>
            <a:off x="1423548" y="1022150"/>
            <a:ext cx="1226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Agent-Environment Properties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9978525" y="2569600"/>
            <a:ext cx="7206900" cy="390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Delayed Effects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Actions taken now may have delayed consequences.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An action at time t may cause a reward much later.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Challenge: The Credit Assignment Problem.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88" name="Google Shape;18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0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rgbClr val="30303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is RL Applied?</a:t>
            </a:r>
            <a:endParaRPr sz="4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423576" y="2337938"/>
            <a:ext cx="3773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Games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423565" y="3470132"/>
            <a:ext cx="66999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34"/>
              <a:buFont typeface="Calibri"/>
              <a:buNone/>
            </a:pPr>
            <a:r>
              <a:rPr i="0" lang="en-US" sz="224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AlphaGo, AlphaStar, OpenAI Five beat world champions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423555" y="6775877"/>
            <a:ext cx="3773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Robotics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423565" y="7820560"/>
            <a:ext cx="62103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34"/>
              <a:buFont typeface="Calibri"/>
              <a:buNone/>
            </a:pPr>
            <a:r>
              <a:rPr i="0" lang="en-US" sz="224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Motor control, locomotion, manipulation tasks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9475979" y="4725828"/>
            <a:ext cx="3773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LLMs / RLHF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9475991" y="5770515"/>
            <a:ext cx="66999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34"/>
              <a:buFont typeface="Calibri"/>
              <a:buNone/>
            </a:pPr>
            <a:r>
              <a:rPr i="0" lang="en-US" sz="224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Fine-tuning ChatGPT, Claude via human feedback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423576" y="4749195"/>
            <a:ext cx="3773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Healthcare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423565" y="5610494"/>
            <a:ext cx="66999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34"/>
              <a:buFont typeface="Calibri"/>
              <a:buNone/>
            </a:pPr>
            <a:r>
              <a:rPr i="0" lang="en-US" sz="224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Treatment planning, drug discovery, clinical trials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9475974" y="2255324"/>
            <a:ext cx="3773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Finance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9475984" y="3443280"/>
            <a:ext cx="66999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34"/>
              <a:buFont typeface="Calibri"/>
              <a:buNone/>
            </a:pPr>
            <a:r>
              <a:rPr i="0" lang="en-US" sz="224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Portfolio management, algorithmic trading, risk control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9475979" y="7069700"/>
            <a:ext cx="37737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Autonomous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42"/>
              <a:buFont typeface="Calibri"/>
              <a:buNone/>
            </a:pPr>
            <a:r>
              <a:rPr i="0" lang="en-US" sz="224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Vehicles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475991" y="8406202"/>
            <a:ext cx="66999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34"/>
              <a:buFont typeface="Calibri"/>
              <a:buNone/>
            </a:pPr>
            <a:r>
              <a:rPr i="0" lang="en-US" sz="224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Navigation, lane-keeping, traffic optimization</a:t>
            </a:r>
            <a:endParaRPr i="0" sz="224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1423550" y="2131675"/>
            <a:ext cx="14797500" cy="9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RL problems are mathematically formalized as Markov Decision Processes (MDPs). It provides a theoretical framework for sequential decision-making.</a:t>
            </a:r>
            <a:endParaRPr i="1"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09" name="Google Shape;20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1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rgbClr val="30303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Markov Decision Processes (MDP)</a:t>
            </a:r>
            <a:endParaRPr sz="4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423559" y="3249265"/>
            <a:ext cx="58341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72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MDP Formal Definition</a:t>
            </a:r>
            <a:endParaRPr b="1"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423559" y="4007707"/>
            <a:ext cx="700200" cy="816600"/>
          </a:xfrm>
          <a:prstGeom prst="rect">
            <a:avLst/>
          </a:prstGeom>
          <a:solidFill>
            <a:srgbClr val="2563EB"/>
          </a:solidFill>
          <a:ln cap="flat" cmpd="sng" w="21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675" lIns="116675" spcFirstLastPara="1" rIns="116675" wrap="square" tIns="11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423550" y="4007714"/>
            <a:ext cx="7002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2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240343" y="4042711"/>
            <a:ext cx="5017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1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State Space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240351" y="4416090"/>
            <a:ext cx="813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61"/>
              <a:buFont typeface="Calibri"/>
              <a:buNone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All possible situation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the agent can be in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423559" y="5116197"/>
            <a:ext cx="700200" cy="816600"/>
          </a:xfrm>
          <a:prstGeom prst="rect">
            <a:avLst/>
          </a:prstGeom>
          <a:solidFill>
            <a:srgbClr val="2563EB"/>
          </a:solidFill>
          <a:ln cap="flat" cmpd="sng" w="21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675" lIns="116675" spcFirstLastPara="1" rIns="116675" wrap="square" tIns="11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423559" y="5116197"/>
            <a:ext cx="7002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2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240343" y="5151202"/>
            <a:ext cx="5017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1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Action Space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240354" y="5524591"/>
            <a:ext cx="7734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61"/>
              <a:buFont typeface="Calibri"/>
              <a:buNone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All possible actions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available to the agent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423559" y="6224688"/>
            <a:ext cx="700200" cy="816600"/>
          </a:xfrm>
          <a:prstGeom prst="rect">
            <a:avLst/>
          </a:prstGeom>
          <a:solidFill>
            <a:srgbClr val="2563EB"/>
          </a:solidFill>
          <a:ln cap="flat" cmpd="sng" w="21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675" lIns="116675" spcFirstLastPara="1" rIns="116675" wrap="square" tIns="11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1423559" y="6224688"/>
            <a:ext cx="7002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2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240343" y="6259693"/>
            <a:ext cx="5017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1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Transition Model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2240350" y="6633090"/>
            <a:ext cx="8139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61"/>
              <a:buFont typeface="Calibri"/>
              <a:buNone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P(s'|s,a) </a:t>
            </a:r>
            <a:r>
              <a:rPr lang="en-US" sz="2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probability of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reaching s' from s via a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423559" y="7333179"/>
            <a:ext cx="700200" cy="816600"/>
          </a:xfrm>
          <a:prstGeom prst="rect">
            <a:avLst/>
          </a:prstGeom>
          <a:solidFill>
            <a:srgbClr val="2563EB"/>
          </a:solidFill>
          <a:ln cap="flat" cmpd="sng" w="21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675" lIns="116675" spcFirstLastPara="1" rIns="116675" wrap="square" tIns="11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423559" y="7333179"/>
            <a:ext cx="7002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2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240343" y="7368184"/>
            <a:ext cx="5017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1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Reward Function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240355" y="7741565"/>
            <a:ext cx="8139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61"/>
              <a:buFont typeface="Calibri"/>
              <a:buNone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R(s,a,s') </a:t>
            </a:r>
            <a:r>
              <a:rPr lang="en-US" sz="2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immediate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feedback signal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423559" y="8441670"/>
            <a:ext cx="700200" cy="816600"/>
          </a:xfrm>
          <a:prstGeom prst="rect">
            <a:avLst/>
          </a:prstGeom>
          <a:solidFill>
            <a:srgbClr val="2563EB"/>
          </a:solidFill>
          <a:ln cap="flat" cmpd="sng" w="216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675" lIns="116675" spcFirstLastPara="1" rIns="116675" wrap="square" tIns="116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423559" y="8441670"/>
            <a:ext cx="7002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2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γ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240343" y="8476675"/>
            <a:ext cx="5017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1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Discount Factor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240354" y="8850065"/>
            <a:ext cx="77349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61"/>
              <a:buFont typeface="Calibri"/>
              <a:buNone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γ ∈ [0,1] </a:t>
            </a:r>
            <a:r>
              <a:rPr lang="en-US" sz="2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how much to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value future rewards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3030750" y="3815636"/>
            <a:ext cx="4268700" cy="241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Markov Property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"The future is independent of the past given the present."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39" name="Google Shape;239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22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800">
                <a:solidFill>
                  <a:srgbClr val="30303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Markov Decision Processes (MDP)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423550" y="5331625"/>
            <a:ext cx="10498200" cy="3404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Episodic vs. Continuing Tasks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Episodic Tasks: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 The interaction naturally breaks into finite sequences (episodes) ending in a terminal state (e.g., winning/losing a game).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Continuing Tasks: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 The interaction goes on continually without limit (e.g., a stock trading bot).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423551" y="1985550"/>
            <a:ext cx="10498200" cy="2886900"/>
          </a:xfrm>
          <a:prstGeom prst="rect">
            <a:avLst/>
          </a:prstGeom>
          <a:solidFill>
            <a:srgbClr val="EFF6FF"/>
          </a:solidFill>
          <a:ln cap="flat" cmpd="sng" w="2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45809" rotWithShape="0" algn="bl" dir="8100000" dist="48603">
              <a:srgbClr val="000000">
                <a:alpha val="5880"/>
              </a:srgbClr>
            </a:outerShdw>
          </a:effectLst>
        </p:spPr>
        <p:txBody>
          <a:bodyPr anchorCtr="0" anchor="ctr" bIns="131225" lIns="131225" spcFirstLastPara="1" rIns="131225" wrap="square" tIns="13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1423551" y="1985554"/>
            <a:ext cx="10498200" cy="91800"/>
          </a:xfrm>
          <a:prstGeom prst="rect">
            <a:avLst/>
          </a:prstGeom>
          <a:solidFill>
            <a:srgbClr val="1E40AF"/>
          </a:solidFill>
          <a:ln cap="flat" cmpd="sng" w="243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225" lIns="131225" spcFirstLastPara="1" rIns="131225" wrap="square" tIns="131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554790" y="2182378"/>
            <a:ext cx="839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05"/>
              <a:buFont typeface="Calibri"/>
              <a:buNone/>
            </a:pPr>
            <a:r>
              <a:rPr i="0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The Markov Property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554790" y="2838518"/>
            <a:ext cx="8398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96"/>
              <a:buFont typeface="Calibri"/>
              <a:buNone/>
            </a:pPr>
            <a:r>
              <a:rPr i="1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P(sₜ₊₁ | s₀,a₀,...,sₜ,aₜ) = P(sₜ₊₁ | sₜ, aₜ)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1554767" y="3625902"/>
            <a:ext cx="103668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14"/>
              <a:buFont typeface="Calibri"/>
              <a:buNone/>
            </a:pPr>
            <a:r>
              <a:rPr i="1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"The future is independent of the past, given the present state."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3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53" name="Google Shape;253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23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800">
                <a:solidFill>
                  <a:srgbClr val="30303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Markov Decision Processes (MDP)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1240825" y="2677725"/>
            <a:ext cx="4992000" cy="1917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Return (G t)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goal is to maximize the Return Gt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9144000" y="2677713"/>
            <a:ext cx="4992000" cy="2413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Discount Factor (γ)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Rewards in the far future are worth less than immediate rewards.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1240818" y="5937570"/>
            <a:ext cx="75468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91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Returns and Discounting</a:t>
            </a:r>
            <a:endParaRPr b="1"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240818" y="6586152"/>
            <a:ext cx="75468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720"/>
              <a:buFont typeface="Calibri"/>
              <a:buNone/>
            </a:pPr>
            <a:r>
              <a:rPr i="1" lang="en-US" sz="28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•  Episodic return:  Gₜ = rₜ + rₜ₊₁ + ... + rₜ₊ₙ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240818" y="7234734"/>
            <a:ext cx="75468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720"/>
              <a:buFont typeface="Calibri"/>
              <a:buNone/>
            </a:pPr>
            <a:r>
              <a:rPr i="1" lang="en-US" sz="28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•  Discounted return:  Gₜ = Σₖ₌₀∞ γᵏ rₜ₊ₖ₊₁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1240818" y="7883317"/>
            <a:ext cx="75468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2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•  γ = 0 → myopic (only current reward)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1240826" y="8531900"/>
            <a:ext cx="85548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2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•  γ → 1 → far-sighted (values future rewards)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4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68" name="Google Shape;268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2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24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Policy and Value Functions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423550" y="2723900"/>
            <a:ext cx="7282800" cy="4396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What is a Policy (π)?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The strategy or rules the agent follows.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mapping from states to actions.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"What action should I take in this state?"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77" name="Google Shape;277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5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Policy and Value Functions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821263" y="2831680"/>
            <a:ext cx="5284200" cy="92400"/>
          </a:xfrm>
          <a:prstGeom prst="rect">
            <a:avLst/>
          </a:prstGeom>
          <a:solidFill>
            <a:srgbClr val="2563EB"/>
          </a:solidFill>
          <a:ln cap="flat" cmpd="sng" w="244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2100" lIns="132100" spcFirstLastPara="1" rIns="132100" wrap="square" tIns="13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1019425" y="3095895"/>
            <a:ext cx="48879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19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Deterministic Policy</a:t>
            </a:r>
            <a:endParaRPr b="1"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1019425" y="4152758"/>
            <a:ext cx="4887900" cy="1122900"/>
          </a:xfrm>
          <a:prstGeom prst="rect">
            <a:avLst/>
          </a:prstGeom>
          <a:solidFill>
            <a:srgbClr val="F1F5F9"/>
          </a:solidFill>
          <a:ln cap="flat" cmpd="sng" w="244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2100" lIns="132100" spcFirstLastPara="1" rIns="132100" wrap="square" tIns="13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1019425" y="4152758"/>
            <a:ext cx="48879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04"/>
              <a:buFont typeface="Calibri"/>
              <a:buNone/>
            </a:pPr>
            <a:r>
              <a:rPr i="1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π(s) = a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1019434" y="5473844"/>
            <a:ext cx="48879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Maps each state to a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specific action. Simple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but can miss optimality.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6501907" y="2831680"/>
            <a:ext cx="5284200" cy="92400"/>
          </a:xfrm>
          <a:prstGeom prst="rect">
            <a:avLst/>
          </a:prstGeom>
          <a:solidFill>
            <a:srgbClr val="BFDBFE"/>
          </a:solidFill>
          <a:ln cap="flat" cmpd="sng" w="2447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2100" lIns="132100" spcFirstLastPara="1" rIns="132100" wrap="square" tIns="13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6700069" y="3095895"/>
            <a:ext cx="48879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19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Stochastic Policy</a:t>
            </a:r>
            <a:endParaRPr b="1"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6700069" y="4152758"/>
            <a:ext cx="4887900" cy="1122900"/>
          </a:xfrm>
          <a:prstGeom prst="rect">
            <a:avLst/>
          </a:prstGeom>
          <a:solidFill>
            <a:srgbClr val="F1F5F9"/>
          </a:solidFill>
          <a:ln cap="flat" cmpd="sng" w="2447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2100" lIns="132100" spcFirstLastPara="1" rIns="132100" wrap="square" tIns="13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6700069" y="4152758"/>
            <a:ext cx="48879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2504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π(a|s) = P(</a:t>
            </a:r>
            <a:r>
              <a:rPr i="1" lang="en-US" sz="280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At =a/St = s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i="0" sz="2800" u="none" cap="none" strike="noStrike">
              <a:solidFill>
                <a:srgbClr val="1D4E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6700069" y="5473837"/>
            <a:ext cx="48879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Maps each state to a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probability distribution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over actions.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12182550" y="2832099"/>
            <a:ext cx="5284200" cy="4623300"/>
          </a:xfrm>
          <a:prstGeom prst="rect">
            <a:avLst/>
          </a:prstGeom>
          <a:solidFill>
            <a:srgbClr val="93C5FD">
              <a:alpha val="60000"/>
            </a:srgbClr>
          </a:solidFill>
          <a:ln cap="flat" cmpd="sng" w="2447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2100" lIns="132100" spcFirstLastPara="1" rIns="132100" wrap="square" tIns="13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2380714" y="3095895"/>
            <a:ext cx="48879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19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Optimal Policy</a:t>
            </a:r>
            <a:endParaRPr b="1"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12380714" y="4152758"/>
            <a:ext cx="4887900" cy="1122900"/>
          </a:xfrm>
          <a:prstGeom prst="rect">
            <a:avLst/>
          </a:prstGeom>
          <a:solidFill>
            <a:srgbClr val="F1F5F9"/>
          </a:solidFill>
          <a:ln cap="flat" cmpd="sng" w="2447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2100" lIns="132100" spcFirstLastPara="1" rIns="132100" wrap="square" tIns="13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12380714" y="4152758"/>
            <a:ext cx="48879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504"/>
              <a:buFont typeface="Calibri"/>
              <a:buNone/>
            </a:pPr>
            <a:r>
              <a:rPr i="1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π* = argmaxπ Vπ(s)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12380714" y="5473837"/>
            <a:ext cx="48879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policy that maximises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expected cumulative reward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26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for all states.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00" name="Google Shape;300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6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Policy and Value Functions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423550" y="2066951"/>
            <a:ext cx="7720500" cy="7324200"/>
          </a:xfrm>
          <a:prstGeom prst="rect">
            <a:avLst/>
          </a:prstGeom>
          <a:solidFill>
            <a:srgbClr val="EFF6FF"/>
          </a:solidFill>
          <a:ln cap="flat" cmpd="sng" w="23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38461" rotWithShape="0" algn="bl" dir="8100000" dist="46154">
              <a:srgbClr val="000000">
                <a:alpha val="5880"/>
              </a:srgbClr>
            </a:outerShdw>
          </a:effectLst>
        </p:spPr>
        <p:txBody>
          <a:bodyPr anchorCtr="0" anchor="ctr" bIns="124625" lIns="124625" spcFirstLastPara="1" rIns="124625" wrap="square" tIns="12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423550" y="2066950"/>
            <a:ext cx="50100" cy="7324200"/>
          </a:xfrm>
          <a:prstGeom prst="rect">
            <a:avLst/>
          </a:prstGeom>
          <a:solidFill>
            <a:srgbClr val="1E40AF"/>
          </a:solidFill>
          <a:ln cap="flat" cmpd="sng" w="231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625" lIns="124625" spcFirstLastPara="1" rIns="124625" wrap="square" tIns="12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1517750" y="2291618"/>
            <a:ext cx="682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99"/>
              <a:buFont typeface="Calibri"/>
              <a:buNone/>
            </a:pPr>
            <a:r>
              <a:rPr b="1" i="0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Exploration vs Exploitation</a:t>
            </a:r>
            <a:endParaRPr b="1"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1652546" y="3380719"/>
            <a:ext cx="75321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7"/>
              <a:buFont typeface="Calibri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fundamental tension: </a:t>
            </a:r>
            <a:r>
              <a:rPr i="1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exploit known rewards (greedy) or explore unknown actions (risky but potentially better)? </a:t>
            </a:r>
            <a:endParaRPr i="1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7"/>
              <a:buFont typeface="Calibri"/>
              <a:buNone/>
            </a:pPr>
            <a:r>
              <a:t/>
            </a:r>
            <a:endParaRPr i="1" sz="2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7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ε-greedy: with prob ε pick random action, otherwise pick argmax Q(s,a).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10129700" y="2622800"/>
            <a:ext cx="7169700" cy="3900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ϵ-Greedy Policy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simple way to balance exploration and exploitation.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With probability 1−ϵ: Exploit (choose the best known action).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With probability ϵ: Explore (choose a completely random action).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1580475" y="6745965"/>
            <a:ext cx="75321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Char char="❏"/>
            </a:pPr>
            <a:r>
              <a:rPr lang="en-US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Exploitation: Taking the best known action to maximize reward.</a:t>
            </a:r>
            <a:endParaRPr sz="2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Char char="❏"/>
            </a:pPr>
            <a:r>
              <a:rPr lang="en-US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Exploration: Trying random actions to discover potentially better strategies.</a:t>
            </a:r>
            <a:endParaRPr sz="2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14" name="Google Shape;314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7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Policy and Value Functions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1520050" y="6113500"/>
            <a:ext cx="7023900" cy="926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How "good" is it to be in a particular state?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9396975" y="6113500"/>
            <a:ext cx="7023900" cy="9267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How "good" is it to take a specific action in a specific state?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1362700" y="2450604"/>
            <a:ext cx="7338600" cy="88500"/>
          </a:xfrm>
          <a:prstGeom prst="rect">
            <a:avLst/>
          </a:prstGeom>
          <a:solidFill>
            <a:srgbClr val="2563EB"/>
          </a:solidFill>
          <a:ln cap="flat" cmpd="sng" w="234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525" lIns="126525" spcFirstLastPara="1" rIns="126525" wrap="square" tIns="12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1552486" y="2640390"/>
            <a:ext cx="69588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29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State-Value Function  V</a:t>
            </a:r>
            <a:r>
              <a:rPr baseline="-25000"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π</a:t>
            </a: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(s)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1552486" y="3399532"/>
            <a:ext cx="6958800" cy="1075500"/>
          </a:xfrm>
          <a:prstGeom prst="rect">
            <a:avLst/>
          </a:prstGeom>
          <a:solidFill>
            <a:srgbClr val="EFF6FF"/>
          </a:solidFill>
          <a:ln cap="flat" cmpd="sng" w="234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525" lIns="126525" spcFirstLastPara="1" rIns="126525" wrap="square" tIns="12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1552486" y="3399532"/>
            <a:ext cx="69588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398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baseline="-25000"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π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(s) = E</a:t>
            </a:r>
            <a:r>
              <a:rPr baseline="-25000"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π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[Gₜ | Sₜ = s]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1552486" y="4601508"/>
            <a:ext cx="69588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45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Expected return starting from state 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45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and following policy π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9207189" y="2450604"/>
            <a:ext cx="7718100" cy="88500"/>
          </a:xfrm>
          <a:prstGeom prst="rect">
            <a:avLst/>
          </a:prstGeom>
          <a:solidFill>
            <a:srgbClr val="0EA5E9"/>
          </a:solidFill>
          <a:ln cap="flat" cmpd="sng" w="234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525" lIns="126525" spcFirstLastPara="1" rIns="126525" wrap="square" tIns="12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9396975" y="2640390"/>
            <a:ext cx="73386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29"/>
              <a:buFont typeface="Calibri"/>
              <a:buNone/>
            </a:pP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Action-Value Function  Q</a:t>
            </a:r>
            <a:r>
              <a:rPr baseline="-25000"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π</a:t>
            </a: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(s,a)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9396975" y="3399532"/>
            <a:ext cx="7338600" cy="1075500"/>
          </a:xfrm>
          <a:prstGeom prst="rect">
            <a:avLst/>
          </a:prstGeom>
          <a:solidFill>
            <a:srgbClr val="FFF7ED"/>
          </a:solidFill>
          <a:ln cap="flat" cmpd="sng" w="234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525" lIns="126525" spcFirstLastPara="1" rIns="126525" wrap="square" tIns="12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9396975" y="3399532"/>
            <a:ext cx="73386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398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baseline="-25000"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π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(s,a) = E</a:t>
            </a:r>
            <a:r>
              <a:rPr baseline="-25000"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π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[Gₜ | Sₜ=s, Aₜ=a]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9396975" y="4601508"/>
            <a:ext cx="73386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45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Expected return starting from state s,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45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taking action a, then following π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34" name="Google Shape;334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28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Policy and Value Functions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1423550" y="2518999"/>
            <a:ext cx="7812300" cy="4176000"/>
          </a:xfrm>
          <a:prstGeom prst="rect">
            <a:avLst/>
          </a:prstGeom>
          <a:solidFill>
            <a:srgbClr val="EFF6FF"/>
          </a:solidFill>
          <a:ln cap="flat" cmpd="sng" w="249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49658" rotWithShape="0" algn="bl" dir="8100000" dist="49886">
              <a:srgbClr val="000000">
                <a:alpha val="5880"/>
              </a:srgbClr>
            </a:outerShdw>
          </a:effectLst>
        </p:spPr>
        <p:txBody>
          <a:bodyPr anchorCtr="0" anchor="ctr" bIns="134675" lIns="134675" spcFirstLastPara="1" rIns="134675" wrap="square" tIns="134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1625588" y="2769574"/>
            <a:ext cx="7408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2160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Key Relationship</a:t>
            </a:r>
            <a:endParaRPr i="0" sz="2800" u="none" cap="none" strike="noStrike">
              <a:solidFill>
                <a:srgbClr val="2563EB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1625588" y="3688349"/>
            <a:ext cx="74082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60"/>
              <a:buFont typeface="Calibri"/>
              <a:buNone/>
            </a:pPr>
            <a:r>
              <a:rPr b="1" i="1" lang="en-US" sz="2800" u="none" cap="none" strike="noStrike">
                <a:solidFill>
                  <a:srgbClr val="1D4ED8"/>
                </a:solidFill>
                <a:latin typeface="Verdana"/>
                <a:ea typeface="Verdana"/>
                <a:cs typeface="Verdana"/>
                <a:sym typeface="Verdana"/>
              </a:rPr>
              <a:t>Vπ(s) = Σₐ π(a|s) · Qπ(s,a)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1625588" y="4857698"/>
            <a:ext cx="74082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64"/>
              <a:buFont typeface="Calibri"/>
              <a:buNone/>
            </a:pPr>
            <a:r>
              <a:rPr i="1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Optimal policy: π*(s) = argmaxₐ Q*(s,a)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9976497" y="2769574"/>
            <a:ext cx="7812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2160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Why They Matter</a:t>
            </a:r>
            <a:endParaRPr i="0" sz="2800" u="none" cap="none" strike="noStrike">
              <a:solidFill>
                <a:srgbClr val="2563EB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9976497" y="3688349"/>
            <a:ext cx="78123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i="0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Value functions guide policy improvement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9976497" y="4440073"/>
            <a:ext cx="78123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i="0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Most RL algorithms estimate V or Q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9976497" y="5191798"/>
            <a:ext cx="78123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i="0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Deep RL approximates them with neural nets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9976497" y="5943523"/>
            <a:ext cx="78123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i="0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They encode 'how good is it to be here?'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51" name="Google Shape;351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9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Bellman Equation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9380400" y="8824350"/>
            <a:ext cx="89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Linkedin</a:t>
            </a:r>
            <a:endParaRPr/>
          </a:p>
        </p:txBody>
      </p:sp>
      <p:sp>
        <p:nvSpPr>
          <p:cNvPr id="355" name="Google Shape;355;p29"/>
          <p:cNvSpPr/>
          <p:nvPr/>
        </p:nvSpPr>
        <p:spPr>
          <a:xfrm>
            <a:off x="1418075" y="2207850"/>
            <a:ext cx="94536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895"/>
              <a:buFont typeface="Calibri"/>
              <a:buNone/>
            </a:pP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Bellman Expectation Equation</a:t>
            </a:r>
            <a:endParaRPr i="0" sz="2800" u="none" cap="none" strike="noStrike">
              <a:solidFill>
                <a:srgbClr val="0EA5E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1418075" y="2769662"/>
            <a:ext cx="141801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40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Vπ(s) = </a:t>
            </a:r>
            <a:r>
              <a:rPr i="1" lang="en-US" sz="280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[R(s,a) + γ Vπ(s')]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1240825" y="5368550"/>
            <a:ext cx="4726800" cy="2405100"/>
          </a:xfrm>
          <a:prstGeom prst="rect">
            <a:avLst/>
          </a:prstGeom>
          <a:solidFill>
            <a:srgbClr val="EFF6FF"/>
          </a:solidFill>
          <a:ln cap="flat" cmpd="sng" w="21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31298" rotWithShape="0" algn="bl" dir="8100000" dist="43766">
              <a:srgbClr val="000000">
                <a:alpha val="5880"/>
              </a:srgbClr>
            </a:outerShdw>
          </a:effectLst>
        </p:spPr>
        <p:txBody>
          <a:bodyPr anchorCtr="0" anchor="ctr" bIns="118150" lIns="118150" spcFirstLastPara="1" rIns="118150" wrap="square" tIns="11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1240825" y="5368561"/>
            <a:ext cx="4726800" cy="82800"/>
          </a:xfrm>
          <a:prstGeom prst="rect">
            <a:avLst/>
          </a:prstGeom>
          <a:solidFill>
            <a:srgbClr val="2563EB"/>
          </a:solidFill>
          <a:ln cap="flat" cmpd="sng" w="218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150" lIns="118150" spcFirstLastPara="1" rIns="118150" wrap="square" tIns="11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1477162" y="5545814"/>
            <a:ext cx="42546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95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Current reward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1477162" y="6313910"/>
            <a:ext cx="42546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23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Immediate feedback from the environment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6322075" y="5368550"/>
            <a:ext cx="4726800" cy="2405100"/>
          </a:xfrm>
          <a:prstGeom prst="rect">
            <a:avLst/>
          </a:prstGeom>
          <a:solidFill>
            <a:srgbClr val="EFF6FF"/>
          </a:solidFill>
          <a:ln cap="flat" cmpd="sng" w="21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31298" rotWithShape="0" algn="bl" dir="8100000" dist="43766">
              <a:srgbClr val="000000">
                <a:alpha val="5880"/>
              </a:srgbClr>
            </a:outerShdw>
          </a:effectLst>
        </p:spPr>
        <p:txBody>
          <a:bodyPr anchorCtr="0" anchor="ctr" bIns="118150" lIns="118150" spcFirstLastPara="1" rIns="118150" wrap="square" tIns="11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6322061" y="5368561"/>
            <a:ext cx="4726800" cy="82800"/>
          </a:xfrm>
          <a:prstGeom prst="rect">
            <a:avLst/>
          </a:prstGeom>
          <a:solidFill>
            <a:srgbClr val="0EA5E9"/>
          </a:solidFill>
          <a:ln cap="flat" cmpd="sng" w="2187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150" lIns="118150" spcFirstLastPara="1" rIns="118150" wrap="square" tIns="11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6558398" y="5545814"/>
            <a:ext cx="42546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95"/>
              <a:buFont typeface="Calibri"/>
              <a:buNone/>
            </a:pP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Future value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6558398" y="6313910"/>
            <a:ext cx="42546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23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Discounted value of the next state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11403300" y="5368547"/>
            <a:ext cx="4726800" cy="2405100"/>
          </a:xfrm>
          <a:prstGeom prst="rect">
            <a:avLst/>
          </a:prstGeom>
          <a:solidFill>
            <a:srgbClr val="EFF6FF"/>
          </a:solidFill>
          <a:ln cap="flat" cmpd="sng" w="21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31298" rotWithShape="0" algn="bl" dir="8100000" dist="43766">
              <a:srgbClr val="000000">
                <a:alpha val="5880"/>
              </a:srgbClr>
            </a:outerShdw>
          </a:effectLst>
        </p:spPr>
        <p:txBody>
          <a:bodyPr anchorCtr="0" anchor="ctr" bIns="118150" lIns="118150" spcFirstLastPara="1" rIns="118150" wrap="square" tIns="11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11403298" y="5368561"/>
            <a:ext cx="4726800" cy="82800"/>
          </a:xfrm>
          <a:prstGeom prst="rect">
            <a:avLst/>
          </a:prstGeom>
          <a:solidFill>
            <a:srgbClr val="BFDBFE"/>
          </a:solidFill>
          <a:ln cap="flat" cmpd="sng" w="2187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150" lIns="118150" spcFirstLastPara="1" rIns="118150" wrap="square" tIns="11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11639634" y="5545814"/>
            <a:ext cx="42546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895"/>
              <a:buFont typeface="Calibri"/>
              <a:buNone/>
            </a:pPr>
            <a:r>
              <a:rPr i="0" lang="en-US" sz="2800" u="none" cap="none" strike="noStrike">
                <a:solidFill>
                  <a:srgbClr val="BFDBFE"/>
                </a:solidFill>
                <a:latin typeface="Poppins"/>
                <a:ea typeface="Poppins"/>
                <a:cs typeface="Poppins"/>
                <a:sym typeface="Poppins"/>
              </a:rPr>
              <a:t>Recursive nature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11639634" y="6313910"/>
            <a:ext cx="42546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23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Value depends on value solved by iteration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1437761" y="4160241"/>
            <a:ext cx="141801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40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Vπ(s) = Σₐ π(a|s)= Σ</a:t>
            </a:r>
            <a:r>
              <a:rPr baseline="-25000"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s'</a:t>
            </a: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 P(s'|s,a) [R(s,a) + γ Vπ(s')]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1477133" y="3703799"/>
            <a:ext cx="94536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895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expanded…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3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76" name="Google Shape;376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30"/>
          <p:cNvSpPr txBox="1"/>
          <p:nvPr/>
        </p:nvSpPr>
        <p:spPr>
          <a:xfrm>
            <a:off x="1423548" y="1022150"/>
            <a:ext cx="1273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Solving MDPs with Known Dynamics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1078200" y="3466456"/>
            <a:ext cx="13480200" cy="2013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5283" lvl="0" marL="64719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964"/>
              <a:buFont typeface="Poppins"/>
              <a:buChar char="❏"/>
            </a:pPr>
            <a:r>
              <a:rPr lang="en-US" sz="3964">
                <a:latin typeface="Poppins"/>
                <a:ea typeface="Poppins"/>
                <a:cs typeface="Poppins"/>
                <a:sym typeface="Poppins"/>
              </a:rPr>
              <a:t>Used when the environment dynamics (transition probabilities and rewards) are perfectly known.</a:t>
            </a:r>
            <a:endParaRPr sz="3964">
              <a:latin typeface="Poppins"/>
              <a:ea typeface="Poppins"/>
              <a:cs typeface="Poppins"/>
              <a:sym typeface="Poppins"/>
            </a:endParaRPr>
          </a:p>
          <a:p>
            <a:pPr indent="-575283" lvl="0" marL="64719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964"/>
              <a:buFont typeface="Poppins"/>
              <a:buChar char="❏"/>
            </a:pPr>
            <a:r>
              <a:rPr lang="en-US" sz="3964">
                <a:latin typeface="Poppins"/>
                <a:ea typeface="Poppins"/>
                <a:cs typeface="Poppins"/>
                <a:sym typeface="Poppins"/>
              </a:rPr>
              <a:t>Model-based RL.</a:t>
            </a:r>
            <a:endParaRPr sz="3964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1078203" y="2195950"/>
            <a:ext cx="118662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64">
                <a:latin typeface="Verdana"/>
                <a:ea typeface="Verdana"/>
                <a:cs typeface="Verdana"/>
                <a:sym typeface="Verdana"/>
              </a:rPr>
              <a:t>Dynamic Programming</a:t>
            </a:r>
            <a:endParaRPr sz="3964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3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86" name="Google Shape;386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" name="Google Shape;388;p31"/>
          <p:cNvSpPr txBox="1"/>
          <p:nvPr/>
        </p:nvSpPr>
        <p:spPr>
          <a:xfrm>
            <a:off x="1423548" y="1022150"/>
            <a:ext cx="1273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Solving MDPs with Known Dynamics</a:t>
            </a: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9643425" y="2321379"/>
            <a:ext cx="75687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158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Policy Improvement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9643425" y="3108375"/>
            <a:ext cx="75687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lang="en-US" sz="2800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The control task: make the policy better based on the newly calculated value function.</a:t>
            </a:r>
            <a:endParaRPr sz="2800">
              <a:solidFill>
                <a:srgbClr val="1E293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lang="en-US" sz="2800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Act greedily with respect to the new values.</a:t>
            </a:r>
            <a:endParaRPr sz="2800">
              <a:solidFill>
                <a:srgbClr val="1E293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62"/>
              <a:buFont typeface="Calibri"/>
              <a:buNone/>
            </a:pPr>
            <a:r>
              <a:t/>
            </a:r>
            <a:endParaRPr sz="2800">
              <a:solidFill>
                <a:srgbClr val="1E293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62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Greedily update policy based on value function: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9643425" y="7331421"/>
            <a:ext cx="7568700" cy="1117200"/>
          </a:xfrm>
          <a:prstGeom prst="rect">
            <a:avLst/>
          </a:prstGeom>
          <a:solidFill>
            <a:srgbClr val="EFF6FF"/>
          </a:solidFill>
          <a:ln cap="flat" cmpd="sng" w="249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4550" lIns="134550" spcFirstLastPara="1" rIns="134550" wrap="square" tIns="13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9781037" y="7417330"/>
            <a:ext cx="72936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58"/>
              <a:buFont typeface="Consolas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Verdana"/>
                <a:ea typeface="Verdana"/>
                <a:cs typeface="Verdana"/>
                <a:sym typeface="Verdana"/>
              </a:rPr>
              <a:t>π'(s) ← argmaxₐ Q(s,a)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1575300" y="2321375"/>
            <a:ext cx="75687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158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Verdana"/>
                <a:ea typeface="Verdana"/>
                <a:cs typeface="Verdana"/>
                <a:sym typeface="Verdana"/>
              </a:rPr>
              <a:t>Policy Evaluation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1575300" y="3108378"/>
            <a:ext cx="7568700" cy="30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lang="en-US" sz="2800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The prediction task: compute the true state-value function v π(s)</a:t>
            </a:r>
            <a:endParaRPr sz="2800">
              <a:solidFill>
                <a:srgbClr val="1E293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Verdana"/>
              <a:buChar char="❏"/>
            </a:pPr>
            <a:r>
              <a:rPr lang="en-US" sz="2800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Iteratively update values using the Bellman equation until convergence.</a:t>
            </a:r>
            <a:endParaRPr sz="2800">
              <a:solidFill>
                <a:srgbClr val="1E293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62"/>
              <a:buFont typeface="Calibri"/>
              <a:buNone/>
            </a:pPr>
            <a:r>
              <a:t/>
            </a:r>
            <a:endParaRPr sz="2800">
              <a:solidFill>
                <a:srgbClr val="1E293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62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Verdana"/>
                <a:ea typeface="Verdana"/>
                <a:cs typeface="Verdana"/>
                <a:sym typeface="Verdana"/>
              </a:rPr>
              <a:t>Given policy π, compute Vπ(s) for all s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1575300" y="6670335"/>
            <a:ext cx="7568700" cy="2439300"/>
          </a:xfrm>
          <a:prstGeom prst="rect">
            <a:avLst/>
          </a:prstGeom>
          <a:solidFill>
            <a:srgbClr val="EFF6FF"/>
          </a:solidFill>
          <a:ln cap="flat" cmpd="sng" w="249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4550" lIns="134550" spcFirstLastPara="1" rIns="134550" wrap="square" tIns="13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1712912" y="6827728"/>
            <a:ext cx="7293600" cy="21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766"/>
              <a:buFont typeface="Consolas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Verdana"/>
                <a:ea typeface="Verdana"/>
                <a:cs typeface="Verdana"/>
                <a:sym typeface="Verdana"/>
              </a:rPr>
              <a:t>for each s in S: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766"/>
              <a:buFont typeface="Consolas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Verdana"/>
                <a:ea typeface="Verdana"/>
                <a:cs typeface="Verdana"/>
                <a:sym typeface="Verdana"/>
              </a:rPr>
              <a:t>  V(s) ← Σₐ π(a|s) Σs' P(s'|s,a)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766"/>
              <a:buFont typeface="Consolas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Verdana"/>
                <a:ea typeface="Verdana"/>
                <a:cs typeface="Verdana"/>
                <a:sym typeface="Verdana"/>
              </a:rPr>
              <a:t>          [R + γ V(s')]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3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02" name="Google Shape;402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32"/>
          <p:cNvSpPr txBox="1"/>
          <p:nvPr/>
        </p:nvSpPr>
        <p:spPr>
          <a:xfrm>
            <a:off x="1512225" y="1022150"/>
            <a:ext cx="132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Model-Free Reinforcement Learning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05" name="Google Shape;405;p32"/>
          <p:cNvGrpSpPr/>
          <p:nvPr/>
        </p:nvGrpSpPr>
        <p:grpSpPr>
          <a:xfrm>
            <a:off x="1242228" y="2826212"/>
            <a:ext cx="7546951" cy="2672073"/>
            <a:chOff x="-1" y="-47623"/>
            <a:chExt cx="10062601" cy="3562764"/>
          </a:xfrm>
        </p:grpSpPr>
        <p:cxnSp>
          <p:nvCxnSpPr>
            <p:cNvPr id="406" name="Google Shape;406;p32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7" name="Google Shape;407;p32"/>
            <p:cNvSpPr txBox="1"/>
            <p:nvPr/>
          </p:nvSpPr>
          <p:spPr>
            <a:xfrm>
              <a:off x="0" y="1140641"/>
              <a:ext cx="10062600" cy="23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In the real world, we do NOT know p(s’/s,a)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Example: A robot doesn't know the exact friction coefficient of the floor.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We must learn by simulated experience.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8" name="Google Shape;408;p32"/>
            <p:cNvSpPr txBox="1"/>
            <p:nvPr/>
          </p:nvSpPr>
          <p:spPr>
            <a:xfrm>
              <a:off x="-1" y="-47623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The Unknown Environment Problem</a:t>
              </a:r>
              <a:endParaRPr b="1"/>
            </a:p>
          </p:txBody>
        </p:sp>
      </p:grpSp>
      <p:grpSp>
        <p:nvGrpSpPr>
          <p:cNvPr id="409" name="Google Shape;409;p32"/>
          <p:cNvGrpSpPr/>
          <p:nvPr/>
        </p:nvGrpSpPr>
        <p:grpSpPr>
          <a:xfrm>
            <a:off x="9498800" y="2826211"/>
            <a:ext cx="7546951" cy="1751599"/>
            <a:chOff x="-1" y="-47624"/>
            <a:chExt cx="10062601" cy="2335465"/>
          </a:xfrm>
        </p:grpSpPr>
        <p:cxnSp>
          <p:nvCxnSpPr>
            <p:cNvPr id="410" name="Google Shape;410;p32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1" name="Google Shape;411;p32"/>
            <p:cNvSpPr txBox="1"/>
            <p:nvPr/>
          </p:nvSpPr>
          <p:spPr>
            <a:xfrm>
              <a:off x="0" y="1140641"/>
              <a:ext cx="10062600" cy="11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Monte Carlo (MC) Methods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Temporal Difference (TD) Learning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2" name="Google Shape;412;p32"/>
            <p:cNvSpPr txBox="1"/>
            <p:nvPr/>
          </p:nvSpPr>
          <p:spPr>
            <a:xfrm>
              <a:off x="-1" y="-47624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Model-Free RL Methods</a:t>
              </a:r>
              <a:endParaRPr b="1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3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18" name="Google Shape;418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33"/>
          <p:cNvSpPr txBox="1"/>
          <p:nvPr/>
        </p:nvSpPr>
        <p:spPr>
          <a:xfrm>
            <a:off x="1512225" y="1022150"/>
            <a:ext cx="132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Model-Free Reinforcement Learning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21" name="Google Shape;421;p33"/>
          <p:cNvGrpSpPr/>
          <p:nvPr/>
        </p:nvGrpSpPr>
        <p:grpSpPr>
          <a:xfrm>
            <a:off x="1242228" y="2826212"/>
            <a:ext cx="7546951" cy="3132423"/>
            <a:chOff x="-1" y="-47623"/>
            <a:chExt cx="10062601" cy="4176564"/>
          </a:xfrm>
        </p:grpSpPr>
        <p:cxnSp>
          <p:nvCxnSpPr>
            <p:cNvPr id="422" name="Google Shape;422;p33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3" name="Google Shape;423;p33"/>
            <p:cNvSpPr txBox="1"/>
            <p:nvPr/>
          </p:nvSpPr>
          <p:spPr>
            <a:xfrm>
              <a:off x="0" y="1140641"/>
              <a:ext cx="10062600" cy="298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Learn directly from episodes of experience.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Must wait until the end of the episode to calculate the true return G t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Update values based on average observed returns.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4" name="Google Shape;424;p33"/>
            <p:cNvSpPr txBox="1"/>
            <p:nvPr/>
          </p:nvSpPr>
          <p:spPr>
            <a:xfrm>
              <a:off x="-1" y="-47623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Monte Carlo (MC) Methods</a:t>
              </a:r>
              <a:endParaRPr b="1"/>
            </a:p>
          </p:txBody>
        </p:sp>
      </p:grpSp>
      <p:grpSp>
        <p:nvGrpSpPr>
          <p:cNvPr id="425" name="Google Shape;425;p33"/>
          <p:cNvGrpSpPr/>
          <p:nvPr/>
        </p:nvGrpSpPr>
        <p:grpSpPr>
          <a:xfrm>
            <a:off x="9498800" y="2826211"/>
            <a:ext cx="7546951" cy="2672074"/>
            <a:chOff x="-1" y="-47624"/>
            <a:chExt cx="10062601" cy="3562765"/>
          </a:xfrm>
        </p:grpSpPr>
        <p:cxnSp>
          <p:nvCxnSpPr>
            <p:cNvPr id="426" name="Google Shape;426;p33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7" name="Google Shape;427;p33"/>
            <p:cNvSpPr txBox="1"/>
            <p:nvPr/>
          </p:nvSpPr>
          <p:spPr>
            <a:xfrm>
              <a:off x="0" y="1140641"/>
              <a:ext cx="10062600" cy="23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An extension and improvement over MC.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Updates estimates before reaching the end of the episode.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Learns step-by-step.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8" name="Google Shape;428;p33"/>
            <p:cNvSpPr txBox="1"/>
            <p:nvPr/>
          </p:nvSpPr>
          <p:spPr>
            <a:xfrm>
              <a:off x="-1" y="-47624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Temporal Difference (TD) Learning</a:t>
              </a:r>
              <a:endParaRPr b="1"/>
            </a:p>
          </p:txBody>
        </p:sp>
      </p:grpSp>
      <p:grpSp>
        <p:nvGrpSpPr>
          <p:cNvPr id="429" name="Google Shape;429;p33"/>
          <p:cNvGrpSpPr/>
          <p:nvPr/>
        </p:nvGrpSpPr>
        <p:grpSpPr>
          <a:xfrm>
            <a:off x="5370525" y="6563436"/>
            <a:ext cx="7546951" cy="2672074"/>
            <a:chOff x="-1" y="-47624"/>
            <a:chExt cx="10062601" cy="3562765"/>
          </a:xfrm>
        </p:grpSpPr>
        <p:cxnSp>
          <p:nvCxnSpPr>
            <p:cNvPr id="430" name="Google Shape;430;p33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1" name="Google Shape;431;p33"/>
            <p:cNvSpPr txBox="1"/>
            <p:nvPr/>
          </p:nvSpPr>
          <p:spPr>
            <a:xfrm>
              <a:off x="0" y="1140641"/>
              <a:ext cx="10062600" cy="23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MC: Zero bias, high variance (requires full episode).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TD: Some bias, lower variance (bootstraps). Empirically converges faster.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2" name="Google Shape;432;p33"/>
            <p:cNvSpPr txBox="1"/>
            <p:nvPr/>
          </p:nvSpPr>
          <p:spPr>
            <a:xfrm>
              <a:off x="-1" y="-47624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MC vs. TD Learning</a:t>
              </a:r>
              <a:endParaRPr b="1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34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38" name="Google Shape;438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34"/>
          <p:cNvSpPr txBox="1"/>
          <p:nvPr/>
        </p:nvSpPr>
        <p:spPr>
          <a:xfrm>
            <a:off x="1423547" y="1022150"/>
            <a:ext cx="1461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Temporal Difference Learning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1578000" y="2362975"/>
            <a:ext cx="41187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652"/>
              <a:buFont typeface="Calibri"/>
              <a:buNone/>
            </a:pP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Core TD Update Rule:</a:t>
            </a:r>
            <a:endParaRPr i="0" sz="2800" u="none" cap="none" strike="noStrike">
              <a:solidFill>
                <a:srgbClr val="0EA5E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5851281" y="2362976"/>
            <a:ext cx="92673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52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V(Sₜ) ← V(Sₜ) + α [ Rₜ₊₁ + γ V(Sₜ₊₁)  −  V(Sₜ) ]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1423550" y="4000201"/>
            <a:ext cx="4396500" cy="87600"/>
          </a:xfrm>
          <a:prstGeom prst="rect">
            <a:avLst/>
          </a:prstGeom>
          <a:solidFill>
            <a:srgbClr val="2563EB"/>
          </a:solidFill>
          <a:ln cap="flat" cmpd="sng" w="203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925" lIns="109925" spcFirstLastPara="1" rIns="109925" wrap="square" tIns="10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1588418" y="4226217"/>
            <a:ext cx="4066500" cy="1067100"/>
          </a:xfrm>
          <a:prstGeom prst="rect">
            <a:avLst/>
          </a:prstGeom>
          <a:solidFill>
            <a:srgbClr val="F1F5F9"/>
          </a:solidFill>
          <a:ln cap="flat" cmpd="sng" w="203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925" lIns="109925" spcFirstLastPara="1" rIns="109925" wrap="square" tIns="10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1588418" y="4226217"/>
            <a:ext cx="40665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63"/>
              <a:buFont typeface="Calibri"/>
              <a:buNone/>
            </a:pPr>
            <a:r>
              <a:rPr i="1" lang="en-US" sz="2989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Rₜ₊₁ + γ V(Sₜ₊₁)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1588418" y="5444196"/>
            <a:ext cx="40665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6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TD Target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1588418" y="6134802"/>
            <a:ext cx="4066500" cy="30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Bootstrap estimate of true value using the next step's actual reward and estimated next state value.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6149776" y="4000201"/>
            <a:ext cx="4396500" cy="87600"/>
          </a:xfrm>
          <a:prstGeom prst="rect">
            <a:avLst/>
          </a:prstGeom>
          <a:solidFill>
            <a:srgbClr val="0EA5E9"/>
          </a:solidFill>
          <a:ln cap="flat" cmpd="sng" w="203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925" lIns="109925" spcFirstLastPara="1" rIns="109925" wrap="square" tIns="10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6314644" y="4226217"/>
            <a:ext cx="4066500" cy="1067100"/>
          </a:xfrm>
          <a:prstGeom prst="rect">
            <a:avLst/>
          </a:prstGeom>
          <a:solidFill>
            <a:srgbClr val="F1F5F9"/>
          </a:solidFill>
          <a:ln cap="flat" cmpd="sng" w="203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925" lIns="109925" spcFirstLastPara="1" rIns="109925" wrap="square" tIns="10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6314644" y="4226217"/>
            <a:ext cx="40665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763"/>
              <a:buFont typeface="Calibri"/>
              <a:buNone/>
            </a:pPr>
            <a:r>
              <a:rPr i="1" lang="en-US" sz="2989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TD Error  δₜ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6314644" y="5444196"/>
            <a:ext cx="40665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6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Target − V(Sₜ)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2" name="Google Shape;452;p34"/>
          <p:cNvSpPr/>
          <p:nvPr/>
        </p:nvSpPr>
        <p:spPr>
          <a:xfrm>
            <a:off x="6314644" y="6134802"/>
            <a:ext cx="4066500" cy="30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Surprise signal: how different is reality from our prediction? This drives all learning.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10876001" y="4000201"/>
            <a:ext cx="4396500" cy="87600"/>
          </a:xfrm>
          <a:prstGeom prst="rect">
            <a:avLst/>
          </a:prstGeom>
          <a:solidFill>
            <a:srgbClr val="BFDBFE"/>
          </a:solidFill>
          <a:ln cap="flat" cmpd="sng" w="2035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925" lIns="109925" spcFirstLastPara="1" rIns="109925" wrap="square" tIns="10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11040870" y="4226217"/>
            <a:ext cx="4066500" cy="1067100"/>
          </a:xfrm>
          <a:prstGeom prst="rect">
            <a:avLst/>
          </a:prstGeom>
          <a:solidFill>
            <a:srgbClr val="F1F5F9"/>
          </a:solidFill>
          <a:ln cap="flat" cmpd="sng" w="2035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925" lIns="109925" spcFirstLastPara="1" rIns="109925" wrap="square" tIns="109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11040870" y="4226217"/>
            <a:ext cx="40665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763"/>
              <a:buFont typeface="Calibri"/>
              <a:buNone/>
            </a:pPr>
            <a:r>
              <a:rPr i="1" lang="en-US" sz="2989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α  (alpha)</a:t>
            </a:r>
            <a:endParaRPr i="0" sz="2989" u="none" cap="none" strike="noStrike">
              <a:solidFill>
                <a:srgbClr val="0EA5E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11040870" y="5444196"/>
            <a:ext cx="40665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6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Learning Rate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11040870" y="6134802"/>
            <a:ext cx="4066500" cy="30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Controls step size. Too large</a:t>
            </a:r>
            <a:r>
              <a:rPr lang="en-US" sz="298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unstable. </a:t>
            </a:r>
            <a:endParaRPr i="0" sz="2989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3"/>
              <a:buFont typeface="Calibri"/>
              <a:buNone/>
            </a:pP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Too small</a:t>
            </a:r>
            <a:r>
              <a:rPr lang="en-US" sz="2989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i="0" lang="en-US" sz="2989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slow convergence.</a:t>
            </a:r>
            <a:endParaRPr i="0" sz="298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3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63" name="Google Shape;463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5" name="Google Shape;465;p35"/>
          <p:cNvSpPr txBox="1"/>
          <p:nvPr/>
        </p:nvSpPr>
        <p:spPr>
          <a:xfrm>
            <a:off x="1423547" y="1022150"/>
            <a:ext cx="1461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RL Algorithm Landscape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2913453" y="2791751"/>
            <a:ext cx="3104100" cy="745200"/>
          </a:xfrm>
          <a:prstGeom prst="rect">
            <a:avLst/>
          </a:prstGeom>
          <a:solidFill>
            <a:srgbClr val="2563EB"/>
          </a:solidFill>
          <a:ln cap="flat" cmpd="sng" w="230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2913453" y="2791751"/>
            <a:ext cx="31041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3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Model-Free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12846141" y="2791751"/>
            <a:ext cx="3104100" cy="745200"/>
          </a:xfrm>
          <a:prstGeom prst="rect">
            <a:avLst/>
          </a:prstGeom>
          <a:solidFill>
            <a:srgbClr val="0EA5E9"/>
          </a:solidFill>
          <a:ln cap="flat" cmpd="sng" w="230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12846141" y="2791751"/>
            <a:ext cx="31041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3"/>
              <a:buFont typeface="Calibri"/>
              <a:buNone/>
            </a:pPr>
            <a:r>
              <a:rPr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Model-Based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1423549" y="3909180"/>
            <a:ext cx="3724800" cy="74400"/>
          </a:xfrm>
          <a:prstGeom prst="rect">
            <a:avLst/>
          </a:prstGeom>
          <a:solidFill>
            <a:srgbClr val="2563EB">
              <a:alpha val="85100"/>
            </a:srgbClr>
          </a:solidFill>
          <a:ln cap="flat" cmpd="sng" w="230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1547708" y="4033339"/>
            <a:ext cx="3476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991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Value-Based</a:t>
            </a:r>
            <a:endParaRPr i="0" sz="2800" u="none" cap="none" strike="noStrike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1609787" y="4840372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3" name="Google Shape;473;p35"/>
          <p:cNvSpPr/>
          <p:nvPr/>
        </p:nvSpPr>
        <p:spPr>
          <a:xfrm>
            <a:off x="1733946" y="4865204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Q-Learning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1609787" y="5833643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1733946" y="585847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DQN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1609787" y="682691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1733946" y="685174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Double DQN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8" name="Google Shape;478;p35"/>
          <p:cNvSpPr/>
          <p:nvPr/>
        </p:nvSpPr>
        <p:spPr>
          <a:xfrm>
            <a:off x="1609787" y="782018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1733946" y="7845016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Dueling DQN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5272466" y="3909180"/>
            <a:ext cx="3724800" cy="74400"/>
          </a:xfrm>
          <a:prstGeom prst="rect">
            <a:avLst/>
          </a:prstGeom>
          <a:solidFill>
            <a:srgbClr val="3B82F6"/>
          </a:solidFill>
          <a:ln cap="flat" cmpd="sng" w="230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5396624" y="4033339"/>
            <a:ext cx="3476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991"/>
              <a:buFont typeface="Calibri"/>
              <a:buNone/>
            </a:pPr>
            <a:r>
              <a:rPr i="0" lang="en-US" sz="28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Policy-Based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5458704" y="4840372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5582862" y="4865204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REINFORCE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5458704" y="5833643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5582862" y="585847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A2C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5458704" y="682691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5582862" y="685174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PPO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5458704" y="782018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5582862" y="7845016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TRPO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9245541" y="3909180"/>
            <a:ext cx="3724800" cy="74400"/>
          </a:xfrm>
          <a:prstGeom prst="rect">
            <a:avLst/>
          </a:prstGeom>
          <a:solidFill>
            <a:srgbClr val="0EA5E9"/>
          </a:solidFill>
          <a:ln cap="flat" cmpd="sng" w="230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9369700" y="4033339"/>
            <a:ext cx="3476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991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Actor-Critic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9431779" y="4840372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9555938" y="4865204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A3C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35"/>
          <p:cNvSpPr/>
          <p:nvPr/>
        </p:nvSpPr>
        <p:spPr>
          <a:xfrm>
            <a:off x="9431779" y="5833643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9555938" y="585847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SAC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9431779" y="682691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9555938" y="685174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TD3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8" name="Google Shape;498;p35"/>
          <p:cNvSpPr/>
          <p:nvPr/>
        </p:nvSpPr>
        <p:spPr>
          <a:xfrm>
            <a:off x="9431779" y="782018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9555938" y="7845016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DDPG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13218616" y="3909180"/>
            <a:ext cx="3724800" cy="74400"/>
          </a:xfrm>
          <a:prstGeom prst="rect">
            <a:avLst/>
          </a:prstGeom>
          <a:solidFill>
            <a:srgbClr val="0EA5E9"/>
          </a:solidFill>
          <a:ln cap="flat" cmpd="sng" w="230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13342775" y="4033339"/>
            <a:ext cx="3476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991"/>
              <a:buFont typeface="Calibri"/>
              <a:buNone/>
            </a:pP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Model-Based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13404854" y="4840372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13529013" y="4865204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Dyna-Q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13404854" y="5833643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13529013" y="585847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MuZero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13404854" y="682691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13529013" y="6851745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World Models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13404854" y="7820184"/>
            <a:ext cx="3351900" cy="807000"/>
          </a:xfrm>
          <a:prstGeom prst="rect">
            <a:avLst/>
          </a:prstGeom>
          <a:solidFill>
            <a:srgbClr val="EFF6FF"/>
          </a:solidFill>
          <a:ln cap="flat" cmpd="sng" w="230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4150" lIns="124150" spcFirstLastPara="1" rIns="124150" wrap="square" tIns="12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13529013" y="7845016"/>
            <a:ext cx="3228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10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AlphaZero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3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515" name="Google Shape;515;p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36"/>
          <p:cNvGrpSpPr/>
          <p:nvPr/>
        </p:nvGrpSpPr>
        <p:grpSpPr>
          <a:xfrm>
            <a:off x="1290517" y="2145400"/>
            <a:ext cx="10768733" cy="2739575"/>
            <a:chOff x="0" y="-47613"/>
            <a:chExt cx="14358311" cy="3652767"/>
          </a:xfrm>
        </p:grpSpPr>
        <p:cxnSp>
          <p:nvCxnSpPr>
            <p:cNvPr id="518" name="Google Shape;518;p36"/>
            <p:cNvCxnSpPr/>
            <p:nvPr/>
          </p:nvCxnSpPr>
          <p:spPr>
            <a:xfrm flipH="1" rot="10800000">
              <a:off x="0" y="832766"/>
              <a:ext cx="14346900" cy="507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9" name="Google Shape;519;p36"/>
            <p:cNvSpPr txBox="1"/>
            <p:nvPr/>
          </p:nvSpPr>
          <p:spPr>
            <a:xfrm>
              <a:off x="11" y="1140653"/>
              <a:ext cx="14358300" cy="2464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Updates Q-values based on the action the agent actually took.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Safer in practice, avoids cliff edges when exploring.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0" name="Google Shape;520;p36"/>
            <p:cNvSpPr txBox="1"/>
            <p:nvPr/>
          </p:nvSpPr>
          <p:spPr>
            <a:xfrm>
              <a:off x="9" y="-47613"/>
              <a:ext cx="121134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Quattrocento Sans"/>
                  <a:ea typeface="Quattrocento Sans"/>
                  <a:cs typeface="Quattrocento Sans"/>
                  <a:sym typeface="Quattrocento Sans"/>
                </a:rPr>
                <a:t>SARSA: On-Policy TD Control</a:t>
              </a:r>
              <a:endParaRPr sz="3200"/>
            </a:p>
          </p:txBody>
        </p:sp>
      </p:grpSp>
      <p:grpSp>
        <p:nvGrpSpPr>
          <p:cNvPr id="521" name="Google Shape;521;p36"/>
          <p:cNvGrpSpPr/>
          <p:nvPr/>
        </p:nvGrpSpPr>
        <p:grpSpPr>
          <a:xfrm>
            <a:off x="13730009" y="-180827"/>
            <a:ext cx="4558558" cy="10468053"/>
            <a:chOff x="0" y="-47625"/>
            <a:chExt cx="1200600" cy="2757000"/>
          </a:xfrm>
        </p:grpSpPr>
        <p:sp>
          <p:nvSpPr>
            <p:cNvPr id="522" name="Google Shape;522;p36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6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36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525" name="Google Shape;525;p36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526" name="Google Shape;526;p36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36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8" name="Google Shape;528;p36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6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530" name="Google Shape;530;p36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531" name="Google Shape;531;p36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6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533" name="Google Shape;533;p36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534" name="Google Shape;534;p36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535" name="Google Shape;535;p36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6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537" name="Google Shape;537;p36"/>
          <p:cNvSpPr txBox="1"/>
          <p:nvPr/>
        </p:nvSpPr>
        <p:spPr>
          <a:xfrm>
            <a:off x="1623073" y="1022150"/>
            <a:ext cx="117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Q-Learning</a:t>
            </a:r>
            <a:endParaRPr/>
          </a:p>
        </p:txBody>
      </p:sp>
      <p:sp>
        <p:nvSpPr>
          <p:cNvPr id="538" name="Google Shape;538;p36"/>
          <p:cNvSpPr txBox="1"/>
          <p:nvPr/>
        </p:nvSpPr>
        <p:spPr>
          <a:xfrm>
            <a:off x="1290500" y="6889025"/>
            <a:ext cx="10768800" cy="2095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Updates Q-values based on the best possible next action, regardless of what the agent actually does.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Can find shorter paths but may "fall off cliffs" during exploration.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1290499" y="6138550"/>
            <a:ext cx="81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Q-Learning: Off-Policy TD Control</a:t>
            </a:r>
            <a:endParaRPr sz="3200"/>
          </a:p>
        </p:txBody>
      </p:sp>
      <p:sp>
        <p:nvSpPr>
          <p:cNvPr id="540" name="Google Shape;540;p36"/>
          <p:cNvSpPr/>
          <p:nvPr/>
        </p:nvSpPr>
        <p:spPr>
          <a:xfrm>
            <a:off x="1330692" y="5097379"/>
            <a:ext cx="1043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1" lang="en-US" sz="2800" u="none" cap="none" strike="noStrike">
                <a:solidFill>
                  <a:srgbClr val="1D4ED8"/>
                </a:solidFill>
                <a:latin typeface="Verdana"/>
                <a:ea typeface="Verdana"/>
                <a:cs typeface="Verdana"/>
                <a:sym typeface="Verdana"/>
              </a:rPr>
              <a:t>Q(s,a) ← Q(s,a) + α [ r + γ Q(s', a')  −  Q(s,a) ]</a:t>
            </a:r>
            <a:endParaRPr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41" name="Google Shape;541;p36"/>
          <p:cNvCxnSpPr/>
          <p:nvPr/>
        </p:nvCxnSpPr>
        <p:spPr>
          <a:xfrm flipH="1" rot="10800000">
            <a:off x="1294842" y="6710297"/>
            <a:ext cx="10760100" cy="38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3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547" name="Google Shape;547;p3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9" name="Google Shape;549;p37"/>
          <p:cNvSpPr txBox="1"/>
          <p:nvPr/>
        </p:nvSpPr>
        <p:spPr>
          <a:xfrm>
            <a:off x="1423547" y="1022150"/>
            <a:ext cx="1423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Q-Learning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0" name="Google Shape;550;p37"/>
          <p:cNvSpPr txBox="1"/>
          <p:nvPr/>
        </p:nvSpPr>
        <p:spPr>
          <a:xfrm>
            <a:off x="1242312" y="2510750"/>
            <a:ext cx="6659400" cy="390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The Q-Table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 lookup table mapping every state-action pair (s,a) to a value.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Rows = States, Columns = Actions.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Goal: Fill the table with the optimal Q-values.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3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556" name="Google Shape;556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" name="Google Shape;558;p38"/>
          <p:cNvSpPr txBox="1"/>
          <p:nvPr/>
        </p:nvSpPr>
        <p:spPr>
          <a:xfrm>
            <a:off x="1423547" y="1022150"/>
            <a:ext cx="1423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Q-Learning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1240825" y="2074036"/>
            <a:ext cx="70200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48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Key Properties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1240825" y="2959164"/>
            <a:ext cx="7020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Char char="❏"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Off-policy: learns optimal Q regardless of behaviour policy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1" name="Google Shape;561;p38"/>
          <p:cNvSpPr/>
          <p:nvPr/>
        </p:nvSpPr>
        <p:spPr>
          <a:xfrm>
            <a:off x="1240825" y="4027422"/>
            <a:ext cx="7020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Char char="❏"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Converges to Q* (under mild conditions)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2" name="Google Shape;562;p38"/>
          <p:cNvSpPr/>
          <p:nvPr/>
        </p:nvSpPr>
        <p:spPr>
          <a:xfrm>
            <a:off x="1240825" y="5095680"/>
            <a:ext cx="7020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Poppins"/>
              <a:buChar char="❏"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Simple to implement and understand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9736282" y="1997508"/>
            <a:ext cx="7020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3"/>
              <a:buFont typeface="Calibri"/>
              <a:buNone/>
            </a:pPr>
            <a:r>
              <a:rPr i="0" lang="en-US" sz="2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✓  Tabular form only — does not scale to large state spaces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38"/>
          <p:cNvSpPr/>
          <p:nvPr/>
        </p:nvSpPr>
        <p:spPr>
          <a:xfrm>
            <a:off x="9507370" y="1951725"/>
            <a:ext cx="7477500" cy="4425300"/>
          </a:xfrm>
          <a:prstGeom prst="rect">
            <a:avLst/>
          </a:prstGeom>
          <a:solidFill>
            <a:srgbClr val="EFF6FF"/>
          </a:solidFill>
          <a:ln cap="flat" cmpd="sng" w="282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69565" rotWithShape="0" algn="bl" dir="8100000" dist="56522">
              <a:srgbClr val="000000">
                <a:alpha val="5880"/>
              </a:srgbClr>
            </a:outerShdw>
          </a:effectLst>
        </p:spPr>
        <p:txBody>
          <a:bodyPr anchorCtr="0" anchor="ctr" bIns="152600" lIns="152600" spcFirstLastPara="1" rIns="152600" wrap="square" tIns="15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38"/>
          <p:cNvSpPr/>
          <p:nvPr/>
        </p:nvSpPr>
        <p:spPr>
          <a:xfrm>
            <a:off x="9507370" y="1951725"/>
            <a:ext cx="7477500" cy="91500"/>
          </a:xfrm>
          <a:prstGeom prst="rect">
            <a:avLst/>
          </a:prstGeom>
          <a:solidFill>
            <a:srgbClr val="0EA5E9"/>
          </a:solidFill>
          <a:ln cap="flat" cmpd="sng" w="282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600" lIns="152600" spcFirstLastPara="1" rIns="152600" wrap="square" tIns="15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38"/>
          <p:cNvSpPr/>
          <p:nvPr/>
        </p:nvSpPr>
        <p:spPr>
          <a:xfrm>
            <a:off x="9736282" y="2134855"/>
            <a:ext cx="70200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25"/>
              <a:buFont typeface="Calibri"/>
              <a:buNone/>
            </a:pPr>
            <a:r>
              <a:rPr i="0" lang="en-US" sz="2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The Update Explained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9736282" y="2974200"/>
            <a:ext cx="70200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25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r + γ max Q(s',a')  is the "target"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9736282" y="3737242"/>
            <a:ext cx="70200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25"/>
              <a:buFont typeface="Calibri"/>
              <a:buNone/>
            </a:pPr>
            <a:r>
              <a:rPr i="1" lang="en-US" sz="28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Q(s,a)  is the current estimate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9736282" y="4500283"/>
            <a:ext cx="70200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3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Their difference = TD error δ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3"/>
              <a:buFont typeface="Calibri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→ We nudge Q toward the target by α·δ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1242312" y="6377025"/>
            <a:ext cx="6659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The Q-Learning Update Rule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3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576" name="Google Shape;576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39"/>
          <p:cNvGrpSpPr/>
          <p:nvPr/>
        </p:nvGrpSpPr>
        <p:grpSpPr>
          <a:xfrm>
            <a:off x="13730009" y="-180827"/>
            <a:ext cx="4558558" cy="10468053"/>
            <a:chOff x="0" y="-47625"/>
            <a:chExt cx="1200600" cy="2757000"/>
          </a:xfrm>
        </p:grpSpPr>
        <p:sp>
          <p:nvSpPr>
            <p:cNvPr id="579" name="Google Shape;579;p39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9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39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582" name="Google Shape;582;p39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583" name="Google Shape;583;p39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39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5" name="Google Shape;585;p39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9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587" name="Google Shape;587;p39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588" name="Google Shape;588;p39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9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590" name="Google Shape;590;p39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591" name="Google Shape;591;p39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592" name="Google Shape;592;p39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9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594" name="Google Shape;594;p39"/>
          <p:cNvSpPr txBox="1"/>
          <p:nvPr/>
        </p:nvSpPr>
        <p:spPr>
          <a:xfrm>
            <a:off x="1623073" y="1022150"/>
            <a:ext cx="117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Q-Learning</a:t>
            </a:r>
            <a:endParaRPr/>
          </a:p>
        </p:txBody>
      </p:sp>
      <p:sp>
        <p:nvSpPr>
          <p:cNvPr id="595" name="Google Shape;595;p39"/>
          <p:cNvSpPr/>
          <p:nvPr/>
        </p:nvSpPr>
        <p:spPr>
          <a:xfrm>
            <a:off x="1240825" y="2123299"/>
            <a:ext cx="8611800" cy="77400"/>
          </a:xfrm>
          <a:prstGeom prst="rect">
            <a:avLst/>
          </a:prstGeom>
          <a:solidFill>
            <a:srgbClr val="2563EB"/>
          </a:solidFill>
          <a:ln cap="flat" cmpd="sng" w="22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600" lIns="119600" spcFirstLastPara="1" rIns="119600" wrap="square" tIns="11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39"/>
          <p:cNvSpPr/>
          <p:nvPr/>
        </p:nvSpPr>
        <p:spPr>
          <a:xfrm>
            <a:off x="1420241" y="2278125"/>
            <a:ext cx="8253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919"/>
              <a:buFont typeface="Calibri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Algorithm: Q-Learning (Watkins, 1989)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1420241" y="2987744"/>
            <a:ext cx="8253000" cy="6257400"/>
          </a:xfrm>
          <a:prstGeom prst="rect">
            <a:avLst/>
          </a:prstGeom>
          <a:solidFill>
            <a:srgbClr val="F8FAFC"/>
          </a:solidFill>
          <a:ln cap="flat" cmpd="sng" w="22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600" lIns="119600" spcFirstLastPara="1" rIns="119600" wrap="square" tIns="11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39"/>
          <p:cNvSpPr/>
          <p:nvPr/>
        </p:nvSpPr>
        <p:spPr>
          <a:xfrm>
            <a:off x="1539851" y="3116765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Initialize Q(s,a) arbitrarily; Q(terminal,·) = 0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1539851" y="3787677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For each episode:</a:t>
            </a:r>
            <a:endParaRPr i="0" sz="2800" u="none" cap="none" strike="noStrike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39"/>
          <p:cNvSpPr/>
          <p:nvPr/>
        </p:nvSpPr>
        <p:spPr>
          <a:xfrm>
            <a:off x="1539851" y="4458589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 Observe initial state s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39"/>
          <p:cNvSpPr/>
          <p:nvPr/>
        </p:nvSpPr>
        <p:spPr>
          <a:xfrm>
            <a:off x="1539851" y="5129501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 For each step in episode:</a:t>
            </a:r>
            <a:endParaRPr i="0" sz="2800" u="none" cap="none" strike="noStrike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2" name="Google Shape;602;p39"/>
          <p:cNvSpPr/>
          <p:nvPr/>
        </p:nvSpPr>
        <p:spPr>
          <a:xfrm>
            <a:off x="1539851" y="5800413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   Choose a from s using ε-greedy on Q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3" name="Google Shape;603;p39"/>
          <p:cNvSpPr/>
          <p:nvPr/>
        </p:nvSpPr>
        <p:spPr>
          <a:xfrm>
            <a:off x="1539851" y="6471324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   Take action a, observe r, s'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39"/>
          <p:cNvSpPr/>
          <p:nvPr/>
        </p:nvSpPr>
        <p:spPr>
          <a:xfrm>
            <a:off x="1539850" y="7142225"/>
            <a:ext cx="9289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    Q(s,a) ← Q(s,a) + α [r + γ maxₐ' Q(s',a') − Q(s,a)]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5" name="Google Shape;605;p39"/>
          <p:cNvSpPr/>
          <p:nvPr/>
        </p:nvSpPr>
        <p:spPr>
          <a:xfrm>
            <a:off x="1539851" y="7813148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   s ← s'</a:t>
            </a:r>
            <a:endParaRPr i="0" sz="2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1539851" y="8484060"/>
            <a:ext cx="8013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570"/>
              <a:buFont typeface="Consolas"/>
              <a:buNone/>
            </a:pPr>
            <a:r>
              <a:rPr i="0" lang="en-US" sz="2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 Until s is terminal</a:t>
            </a:r>
            <a:endParaRPr i="0" sz="2800" u="none" cap="none" strike="noStrike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4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612" name="Google Shape;612;p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4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40"/>
          <p:cNvGrpSpPr/>
          <p:nvPr/>
        </p:nvGrpSpPr>
        <p:grpSpPr>
          <a:xfrm>
            <a:off x="1240821" y="2604100"/>
            <a:ext cx="10890418" cy="2934875"/>
            <a:chOff x="0" y="-47613"/>
            <a:chExt cx="26286309" cy="3913167"/>
          </a:xfrm>
        </p:grpSpPr>
        <p:cxnSp>
          <p:nvCxnSpPr>
            <p:cNvPr id="615" name="Google Shape;615;p40"/>
            <p:cNvCxnSpPr/>
            <p:nvPr/>
          </p:nvCxnSpPr>
          <p:spPr>
            <a:xfrm flipH="1" rot="10800000">
              <a:off x="0" y="832766"/>
              <a:ext cx="14346900" cy="507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6" name="Google Shape;616;p40"/>
            <p:cNvSpPr txBox="1"/>
            <p:nvPr/>
          </p:nvSpPr>
          <p:spPr>
            <a:xfrm>
              <a:off x="9" y="1140653"/>
              <a:ext cx="26286300" cy="2724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Tabular Q-learning fails if the state space is too large.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Example: An Atari game screen has millions of pixel combinations.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You cannot store a Q-table with millions of rows.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7" name="Google Shape;617;p40"/>
            <p:cNvSpPr txBox="1"/>
            <p:nvPr/>
          </p:nvSpPr>
          <p:spPr>
            <a:xfrm>
              <a:off x="9" y="-47613"/>
              <a:ext cx="17817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Quattrocento Sans"/>
                  <a:ea typeface="Quattrocento Sans"/>
                  <a:cs typeface="Quattrocento Sans"/>
                  <a:sym typeface="Quattrocento Sans"/>
                </a:rPr>
                <a:t>The Curse of Dimensionality in RL</a:t>
              </a:r>
              <a:endParaRPr sz="3200"/>
            </a:p>
          </p:txBody>
        </p:sp>
      </p:grpSp>
      <p:grpSp>
        <p:nvGrpSpPr>
          <p:cNvPr id="618" name="Google Shape;618;p40"/>
          <p:cNvGrpSpPr/>
          <p:nvPr/>
        </p:nvGrpSpPr>
        <p:grpSpPr>
          <a:xfrm>
            <a:off x="13730009" y="-180827"/>
            <a:ext cx="4558558" cy="10468053"/>
            <a:chOff x="0" y="-47625"/>
            <a:chExt cx="1200600" cy="2757000"/>
          </a:xfrm>
        </p:grpSpPr>
        <p:sp>
          <p:nvSpPr>
            <p:cNvPr id="619" name="Google Shape;619;p40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0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1" name="Google Shape;621;p40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622" name="Google Shape;622;p40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623" name="Google Shape;623;p40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40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p40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40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627" name="Google Shape;627;p40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628" name="Google Shape;628;p40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40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630" name="Google Shape;630;p40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631" name="Google Shape;631;p40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632" name="Google Shape;632;p40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40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634" name="Google Shape;634;p40"/>
          <p:cNvSpPr txBox="1"/>
          <p:nvPr/>
        </p:nvSpPr>
        <p:spPr>
          <a:xfrm>
            <a:off x="1623074" y="1022150"/>
            <a:ext cx="1044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Q-Learning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4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640" name="Google Shape;640;p4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4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2" name="Google Shape;642;p41"/>
          <p:cNvGrpSpPr/>
          <p:nvPr/>
        </p:nvGrpSpPr>
        <p:grpSpPr>
          <a:xfrm>
            <a:off x="15354897" y="-180825"/>
            <a:ext cx="2933666" cy="10468053"/>
            <a:chOff x="0" y="-47625"/>
            <a:chExt cx="1200600" cy="2757000"/>
          </a:xfrm>
        </p:grpSpPr>
        <p:sp>
          <p:nvSpPr>
            <p:cNvPr id="643" name="Google Shape;643;p41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1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41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646" name="Google Shape;646;p41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647" name="Google Shape;647;p41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41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9" name="Google Shape;649;p41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41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651" name="Google Shape;651;p41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652" name="Google Shape;652;p41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41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654" name="Google Shape;654;p41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655" name="Google Shape;655;p41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656" name="Google Shape;656;p41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41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658" name="Google Shape;658;p41"/>
          <p:cNvSpPr txBox="1"/>
          <p:nvPr/>
        </p:nvSpPr>
        <p:spPr>
          <a:xfrm>
            <a:off x="1623072" y="1022150"/>
            <a:ext cx="1373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Q-Networks (DQN)</a:t>
            </a:r>
            <a:endParaRPr/>
          </a:p>
        </p:txBody>
      </p:sp>
      <p:sp>
        <p:nvSpPr>
          <p:cNvPr id="659" name="Google Shape;659;p41"/>
          <p:cNvSpPr/>
          <p:nvPr/>
        </p:nvSpPr>
        <p:spPr>
          <a:xfrm>
            <a:off x="816550" y="2138575"/>
            <a:ext cx="10613700" cy="2210400"/>
          </a:xfrm>
          <a:prstGeom prst="rect">
            <a:avLst/>
          </a:prstGeom>
          <a:solidFill>
            <a:srgbClr val="F8FAFC"/>
          </a:solidFill>
          <a:ln cap="flat" cmpd="sng" w="233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40331" rotWithShape="0" algn="bl" dir="8100000" dist="46777">
              <a:srgbClr val="000000">
                <a:alpha val="5880"/>
              </a:srgbClr>
            </a:outerShdw>
          </a:effectLst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2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41"/>
          <p:cNvSpPr/>
          <p:nvPr/>
        </p:nvSpPr>
        <p:spPr>
          <a:xfrm>
            <a:off x="916150" y="2179074"/>
            <a:ext cx="10414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26"/>
              <a:buFont typeface="Calibri"/>
              <a:buNone/>
            </a:pPr>
            <a:r>
              <a:rPr i="0" lang="en-US" sz="288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Neural Network Function Approximator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1015702" y="2896381"/>
            <a:ext cx="104145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115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82"/>
              <a:buFont typeface="Poppins"/>
              <a:buChar char="❏"/>
            </a:pPr>
            <a:r>
              <a:rPr i="0" lang="en-US" sz="288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Replace the Q-table with a deep CNN: Q(s,a; θ)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15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82"/>
              <a:buFont typeface="Poppins"/>
              <a:buChar char="❏"/>
            </a:pPr>
            <a:r>
              <a:rPr i="0" lang="en-US" sz="288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Input: raw pixel frames. Output: Q-values for all actions.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2105179" y="4518449"/>
            <a:ext cx="10613700" cy="2210400"/>
          </a:xfrm>
          <a:prstGeom prst="rect">
            <a:avLst/>
          </a:prstGeom>
          <a:solidFill>
            <a:srgbClr val="F8FAFC"/>
          </a:solidFill>
          <a:ln cap="flat" cmpd="sng" w="233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40331" rotWithShape="0" algn="bl" dir="8100000" dist="46777">
              <a:srgbClr val="000000">
                <a:alpha val="5880"/>
              </a:srgbClr>
            </a:outerShdw>
          </a:effectLst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2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2304060" y="4606848"/>
            <a:ext cx="10414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26"/>
              <a:buFont typeface="Calibri"/>
              <a:buNone/>
            </a:pPr>
            <a:r>
              <a:rPr i="0" lang="en-US" sz="288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Experience Replay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2304060" y="5276228"/>
            <a:ext cx="104145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115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82"/>
              <a:buFont typeface="Poppins"/>
              <a:buChar char="❏"/>
            </a:pPr>
            <a:r>
              <a:rPr i="0" lang="en-US" sz="288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Store transitions (s,a,r,s') in a replay buffer D.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15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82"/>
              <a:buFont typeface="Poppins"/>
              <a:buChar char="❏"/>
            </a:pPr>
            <a:r>
              <a:rPr i="0" lang="en-US" sz="288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Sample random mini-batches to break correlation between consecutive samples.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3585368" y="7034625"/>
            <a:ext cx="10613700" cy="2210400"/>
          </a:xfrm>
          <a:prstGeom prst="rect">
            <a:avLst/>
          </a:prstGeom>
          <a:solidFill>
            <a:srgbClr val="F8FAFC"/>
          </a:solidFill>
          <a:ln cap="flat" cmpd="sng" w="233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40331" rotWithShape="0" algn="bl" dir="8100000" dist="46777">
              <a:srgbClr val="000000">
                <a:alpha val="5880"/>
              </a:srgbClr>
            </a:outerShdw>
          </a:effectLst>
        </p:spPr>
        <p:txBody>
          <a:bodyPr anchorCtr="0" anchor="ctr" bIns="126300" lIns="126300" spcFirstLastPara="1" rIns="126300" wrap="square" tIns="126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2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3784519" y="7123043"/>
            <a:ext cx="10414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26"/>
              <a:buFont typeface="Calibri"/>
              <a:buNone/>
            </a:pPr>
            <a:r>
              <a:rPr i="0" lang="en-US" sz="2882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Target Network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41"/>
          <p:cNvSpPr/>
          <p:nvPr/>
        </p:nvSpPr>
        <p:spPr>
          <a:xfrm>
            <a:off x="3784519" y="7792423"/>
            <a:ext cx="104145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115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82"/>
              <a:buFont typeface="Poppins"/>
              <a:buChar char="❏"/>
            </a:pPr>
            <a:r>
              <a:rPr i="0" lang="en-US" sz="288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Maintain separate network θ⁻ for computing targets.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15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82"/>
              <a:buFont typeface="Poppins"/>
              <a:buChar char="❏"/>
            </a:pPr>
            <a:r>
              <a:rPr i="0" lang="en-US" sz="2882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Update θ⁻ ← θ every C steps. Stabilises training.</a:t>
            </a:r>
            <a:endParaRPr i="0" sz="2882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2"/>
          <p:cNvSpPr txBox="1"/>
          <p:nvPr/>
        </p:nvSpPr>
        <p:spPr>
          <a:xfrm>
            <a:off x="1290517" y="2355856"/>
            <a:ext cx="15968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Introduction to the Hugging Face Deep RL tutorial/demo workspace.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Hands-on with stable-baselines3 and OpenAI Gym.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Train your own agent and push it to the Hub!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73" name="Google Shape;673;p4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674" name="Google Shape;674;p4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4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6" name="Google Shape;676;p42"/>
          <p:cNvSpPr txBox="1"/>
          <p:nvPr/>
        </p:nvSpPr>
        <p:spPr>
          <a:xfrm>
            <a:off x="1575692" y="1022138"/>
            <a:ext cx="549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10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3A6E"/>
            </a:gs>
            <a:gs pos="100000">
              <a:srgbClr val="262091"/>
            </a:gs>
          </a:gsLst>
          <a:lin ang="0" scaled="0"/>
        </a:gra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3"/>
          <p:cNvSpPr/>
          <p:nvPr/>
        </p:nvSpPr>
        <p:spPr>
          <a:xfrm>
            <a:off x="0" y="-2217254"/>
            <a:ext cx="18317150" cy="12502574"/>
          </a:xfrm>
          <a:custGeom>
            <a:rect b="b" l="l" r="r" t="t"/>
            <a:pathLst>
              <a:path extrusionOk="0" h="12502574" w="18317150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-1192" r="-11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3"/>
          <p:cNvSpPr/>
          <p:nvPr/>
        </p:nvSpPr>
        <p:spPr>
          <a:xfrm>
            <a:off x="14595563" y="1015051"/>
            <a:ext cx="2663737" cy="1152180"/>
          </a:xfrm>
          <a:custGeom>
            <a:rect b="b" l="l" r="r" t="t"/>
            <a:pathLst>
              <a:path extrusionOk="0" h="1152180" w="2663737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0" l="0" r="0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3" name="Google Shape;683;p43"/>
          <p:cNvGrpSpPr/>
          <p:nvPr/>
        </p:nvGrpSpPr>
        <p:grpSpPr>
          <a:xfrm>
            <a:off x="0" y="9005143"/>
            <a:ext cx="18288000" cy="1280177"/>
            <a:chOff x="0" y="-66675"/>
            <a:chExt cx="4816593" cy="337166"/>
          </a:xfrm>
        </p:grpSpPr>
        <p:sp>
          <p:nvSpPr>
            <p:cNvPr id="684" name="Google Shape;684;p43"/>
            <p:cNvSpPr/>
            <p:nvPr/>
          </p:nvSpPr>
          <p:spPr>
            <a:xfrm>
              <a:off x="0" y="0"/>
              <a:ext cx="4816592" cy="270491"/>
            </a:xfrm>
            <a:custGeom>
              <a:rect b="b" l="l" r="r" t="t"/>
              <a:pathLst>
                <a:path extrusionOk="0" h="2704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491"/>
                  </a:lnTo>
                  <a:lnTo>
                    <a:pt x="0" y="2704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43"/>
            <p:cNvSpPr txBox="1"/>
            <p:nvPr/>
          </p:nvSpPr>
          <p:spPr>
            <a:xfrm>
              <a:off x="0" y="-66675"/>
              <a:ext cx="4816593" cy="337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6" name="Google Shape;686;p43"/>
          <p:cNvSpPr/>
          <p:nvPr/>
        </p:nvSpPr>
        <p:spPr>
          <a:xfrm>
            <a:off x="762000" y="9416949"/>
            <a:ext cx="1559829" cy="709722"/>
          </a:xfrm>
          <a:custGeom>
            <a:rect b="b" l="l" r="r" t="t"/>
            <a:pathLst>
              <a:path extrusionOk="0" h="709722" w="1559829">
                <a:moveTo>
                  <a:pt x="0" y="0"/>
                </a:moveTo>
                <a:lnTo>
                  <a:pt x="1559829" y="0"/>
                </a:lnTo>
                <a:lnTo>
                  <a:pt x="1559829" y="709722"/>
                </a:lnTo>
                <a:lnTo>
                  <a:pt x="0" y="70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3"/>
          <p:cNvSpPr txBox="1"/>
          <p:nvPr/>
        </p:nvSpPr>
        <p:spPr>
          <a:xfrm>
            <a:off x="1842750" y="3574163"/>
            <a:ext cx="1463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  <p:sp>
        <p:nvSpPr>
          <p:cNvPr id="688" name="Google Shape;688;p43"/>
          <p:cNvSpPr txBox="1"/>
          <p:nvPr/>
        </p:nvSpPr>
        <p:spPr>
          <a:xfrm>
            <a:off x="7883242" y="5217471"/>
            <a:ext cx="301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689" name="Google Shape;689;p43"/>
          <p:cNvSpPr txBox="1"/>
          <p:nvPr/>
        </p:nvSpPr>
        <p:spPr>
          <a:xfrm>
            <a:off x="2715171" y="9613897"/>
            <a:ext cx="1905248" cy="3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3A6E"/>
                </a:solidFill>
                <a:latin typeface="Poppins"/>
                <a:ea typeface="Poppins"/>
                <a:cs typeface="Poppins"/>
                <a:sym typeface="Poppins"/>
              </a:rPr>
              <a:t>www.pau.edu.ng</a:t>
            </a:r>
            <a:endParaRPr/>
          </a:p>
        </p:txBody>
      </p:sp>
      <p:grpSp>
        <p:nvGrpSpPr>
          <p:cNvPr id="690" name="Google Shape;690;p43"/>
          <p:cNvGrpSpPr/>
          <p:nvPr/>
        </p:nvGrpSpPr>
        <p:grpSpPr>
          <a:xfrm>
            <a:off x="11497609" y="9594669"/>
            <a:ext cx="1845990" cy="344933"/>
            <a:chOff x="0" y="-12464"/>
            <a:chExt cx="2461320" cy="459911"/>
          </a:xfrm>
        </p:grpSpPr>
        <p:sp>
          <p:nvSpPr>
            <p:cNvPr id="691" name="Google Shape;691;p43"/>
            <p:cNvSpPr txBox="1"/>
            <p:nvPr/>
          </p:nvSpPr>
          <p:spPr>
            <a:xfrm>
              <a:off x="551690" y="-12464"/>
              <a:ext cx="1909630" cy="41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692" name="Google Shape;692;p43"/>
            <p:cNvSpPr/>
            <p:nvPr/>
          </p:nvSpPr>
          <p:spPr>
            <a:xfrm>
              <a:off x="0" y="0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p43"/>
          <p:cNvGrpSpPr/>
          <p:nvPr/>
        </p:nvGrpSpPr>
        <p:grpSpPr>
          <a:xfrm>
            <a:off x="13681595" y="9594670"/>
            <a:ext cx="3577705" cy="311417"/>
            <a:chOff x="0" y="-57150"/>
            <a:chExt cx="4770273" cy="415224"/>
          </a:xfrm>
        </p:grpSpPr>
        <p:sp>
          <p:nvSpPr>
            <p:cNvPr id="694" name="Google Shape;694;p43"/>
            <p:cNvSpPr txBox="1"/>
            <p:nvPr/>
          </p:nvSpPr>
          <p:spPr>
            <a:xfrm>
              <a:off x="1313823" y="-57150"/>
              <a:ext cx="3456450" cy="41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695" name="Google Shape;695;p43"/>
            <p:cNvSpPr/>
            <p:nvPr/>
          </p:nvSpPr>
          <p:spPr>
            <a:xfrm>
              <a:off x="0" y="10659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696" name="Google Shape;696;p43"/>
            <p:cNvSpPr/>
            <p:nvPr/>
          </p:nvSpPr>
          <p:spPr>
            <a:xfrm>
              <a:off x="502626" y="43807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09" y="0"/>
                  </a:lnTo>
                  <a:lnTo>
                    <a:pt x="299309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697" name="Google Shape;697;p43"/>
            <p:cNvSpPr/>
            <p:nvPr/>
          </p:nvSpPr>
          <p:spPr>
            <a:xfrm>
              <a:off x="905635" y="26793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